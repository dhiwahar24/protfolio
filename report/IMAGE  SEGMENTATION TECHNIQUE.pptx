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28"/>
  </p:notesMasterIdLst>
  <p:sldIdLst>
    <p:sldId id="274" r:id="rId2"/>
    <p:sldId id="258" r:id="rId3"/>
    <p:sldId id="259" r:id="rId4"/>
    <p:sldId id="260" r:id="rId5"/>
    <p:sldId id="262" r:id="rId6"/>
    <p:sldId id="265" r:id="rId7"/>
    <p:sldId id="268" r:id="rId8"/>
    <p:sldId id="269" r:id="rId9"/>
    <p:sldId id="267" r:id="rId10"/>
    <p:sldId id="270" r:id="rId11"/>
    <p:sldId id="271" r:id="rId12"/>
    <p:sldId id="272" r:id="rId13"/>
    <p:sldId id="266" r:id="rId14"/>
    <p:sldId id="264" r:id="rId15"/>
    <p:sldId id="275" r:id="rId16"/>
    <p:sldId id="276" r:id="rId17"/>
    <p:sldId id="277" r:id="rId18"/>
    <p:sldId id="278" r:id="rId19"/>
    <p:sldId id="279" r:id="rId20"/>
    <p:sldId id="280" r:id="rId21"/>
    <p:sldId id="281" r:id="rId22"/>
    <p:sldId id="282" r:id="rId23"/>
    <p:sldId id="283" r:id="rId24"/>
    <p:sldId id="284" r:id="rId25"/>
    <p:sldId id="286" r:id="rId26"/>
    <p:sldId id="285"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95D365-6C2C-44D0-8548-C3B0C575DFEA}" v="89" dt="2025-05-21T16:14:47.407"/>
    <p1510:client id="{D2D9951C-515C-428A-9313-B0083E834EE2}" v="2" dt="2025-05-21T17:17:51.8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09" autoAdjust="0"/>
    <p:restoredTop sz="94660"/>
  </p:normalViewPr>
  <p:slideViewPr>
    <p:cSldViewPr snapToGrid="0">
      <p:cViewPr varScale="1">
        <p:scale>
          <a:sx n="78" d="100"/>
          <a:sy n="78" d="100"/>
        </p:scale>
        <p:origin x="79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iwahar A" userId="d76cdcff99fa0fbf" providerId="LiveId" clId="{D2D9951C-515C-428A-9313-B0083E834EE2}"/>
    <pc:docChg chg="undo custSel addSld modSld">
      <pc:chgData name="Dhiwahar A" userId="d76cdcff99fa0fbf" providerId="LiveId" clId="{D2D9951C-515C-428A-9313-B0083E834EE2}" dt="2025-05-21T17:18:29.651" v="19" actId="2711"/>
      <pc:docMkLst>
        <pc:docMk/>
      </pc:docMkLst>
      <pc:sldChg chg="addSp modSp new mod">
        <pc:chgData name="Dhiwahar A" userId="d76cdcff99fa0fbf" providerId="LiveId" clId="{D2D9951C-515C-428A-9313-B0083E834EE2}" dt="2025-05-21T17:18:29.651" v="19" actId="2711"/>
        <pc:sldMkLst>
          <pc:docMk/>
          <pc:sldMk cId="3780289396" sldId="286"/>
        </pc:sldMkLst>
        <pc:spChg chg="add mod">
          <ac:chgData name="Dhiwahar A" userId="d76cdcff99fa0fbf" providerId="LiveId" clId="{D2D9951C-515C-428A-9313-B0083E834EE2}" dt="2025-05-21T17:18:29.651" v="19" actId="2711"/>
          <ac:spMkLst>
            <pc:docMk/>
            <pc:sldMk cId="3780289396" sldId="286"/>
            <ac:spMk id="3" creationId="{6C7B48B8-08D5-ACC1-154F-BC89372E6ADD}"/>
          </ac:spMkLst>
        </pc:spChg>
        <pc:spChg chg="add mod">
          <ac:chgData name="Dhiwahar A" userId="d76cdcff99fa0fbf" providerId="LiveId" clId="{D2D9951C-515C-428A-9313-B0083E834EE2}" dt="2025-05-21T17:18:16.867" v="16" actId="2711"/>
          <ac:spMkLst>
            <pc:docMk/>
            <pc:sldMk cId="3780289396" sldId="286"/>
            <ac:spMk id="4" creationId="{7877910E-1380-BC86-A3CF-FCE16FEFFBF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CEBA0E-A673-4640-9F8A-9F2008B9220C}" type="datetimeFigureOut">
              <a:rPr lang="en-IN" smtClean="0"/>
              <a:t>21-05-2025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4127A3-0421-461E-BF33-DAAEF82EB9A7}" type="slidenum">
              <a:rPr lang="en-IN" smtClean="0"/>
              <a:t>‹#›</a:t>
            </a:fld>
            <a:endParaRPr lang="en-IN"/>
          </a:p>
        </p:txBody>
      </p:sp>
    </p:spTree>
    <p:extLst>
      <p:ext uri="{BB962C8B-B14F-4D97-AF65-F5344CB8AC3E}">
        <p14:creationId xmlns:p14="http://schemas.microsoft.com/office/powerpoint/2010/main" val="2619474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429C065B-3AA1-4EAF-8DFC-C51DC3AE90F6}" type="datetime1">
              <a:rPr lang="en-IN" smtClean="0"/>
              <a:t>21-05-2025</a:t>
            </a:fld>
            <a:endParaRPr lang="en-IN"/>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IN"/>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595F2725-082E-469A-BF5C-09635F99CEA1}" type="slidenum">
              <a:rPr lang="en-IN" smtClean="0"/>
              <a:t>‹#›</a:t>
            </a:fld>
            <a:endParaRPr lang="en-IN"/>
          </a:p>
        </p:txBody>
      </p:sp>
    </p:spTree>
    <p:extLst>
      <p:ext uri="{BB962C8B-B14F-4D97-AF65-F5344CB8AC3E}">
        <p14:creationId xmlns:p14="http://schemas.microsoft.com/office/powerpoint/2010/main" val="2972805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77DB3D-CF54-467F-B1DB-6B9563F7904A}" type="datetime1">
              <a:rPr lang="en-IN" smtClean="0"/>
              <a:t>21-05-2025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5F2725-082E-469A-BF5C-09635F99CEA1}" type="slidenum">
              <a:rPr lang="en-IN" smtClean="0"/>
              <a:t>‹#›</a:t>
            </a:fld>
            <a:endParaRPr lang="en-IN"/>
          </a:p>
        </p:txBody>
      </p:sp>
    </p:spTree>
    <p:extLst>
      <p:ext uri="{BB962C8B-B14F-4D97-AF65-F5344CB8AC3E}">
        <p14:creationId xmlns:p14="http://schemas.microsoft.com/office/powerpoint/2010/main" val="2144096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90BCFB-4D04-4AD3-B94C-8B92240755FD}" type="datetime1">
              <a:rPr lang="en-IN" smtClean="0"/>
              <a:t>21-05-2025</a:t>
            </a:fld>
            <a:endParaRPr lang="en-IN"/>
          </a:p>
        </p:txBody>
      </p:sp>
      <p:sp>
        <p:nvSpPr>
          <p:cNvPr id="5" name="Footer Placeholder 4"/>
          <p:cNvSpPr>
            <a:spLocks noGrp="1"/>
          </p:cNvSpPr>
          <p:nvPr>
            <p:ph type="ftr" sz="quarter" idx="11"/>
          </p:nvPr>
        </p:nvSpPr>
        <p:spPr/>
        <p:txBody>
          <a:bodyPr/>
          <a:lstStyle/>
          <a:p>
            <a:endParaRPr lang="en-IN"/>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95F2725-082E-469A-BF5C-09635F99CEA1}" type="slidenum">
              <a:rPr lang="en-IN" smtClean="0"/>
              <a:t>‹#›</a:t>
            </a:fld>
            <a:endParaRPr lang="en-IN"/>
          </a:p>
        </p:txBody>
      </p:sp>
    </p:spTree>
    <p:extLst>
      <p:ext uri="{BB962C8B-B14F-4D97-AF65-F5344CB8AC3E}">
        <p14:creationId xmlns:p14="http://schemas.microsoft.com/office/powerpoint/2010/main" val="817338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C5B069-6C94-4EBC-907D-37DA696FEF94}" type="datetime1">
              <a:rPr lang="en-IN" smtClean="0"/>
              <a:t>21-05-2025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5F2725-082E-469A-BF5C-09635F99CEA1}" type="slidenum">
              <a:rPr lang="en-IN" smtClean="0"/>
              <a:t>‹#›</a:t>
            </a:fld>
            <a:endParaRPr lang="en-IN"/>
          </a:p>
        </p:txBody>
      </p:sp>
    </p:spTree>
    <p:extLst>
      <p:ext uri="{BB962C8B-B14F-4D97-AF65-F5344CB8AC3E}">
        <p14:creationId xmlns:p14="http://schemas.microsoft.com/office/powerpoint/2010/main" val="1132769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0A5C87-7CE4-4050-A82D-031780720D8D}" type="datetime1">
              <a:rPr lang="en-IN" smtClean="0"/>
              <a:t>21-05-2025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5F2725-082E-469A-BF5C-09635F99CEA1}" type="slidenum">
              <a:rPr lang="en-IN" smtClean="0"/>
              <a:t>‹#›</a:t>
            </a:fld>
            <a:endParaRPr lang="en-IN"/>
          </a:p>
        </p:txBody>
      </p:sp>
    </p:spTree>
    <p:extLst>
      <p:ext uri="{BB962C8B-B14F-4D97-AF65-F5344CB8AC3E}">
        <p14:creationId xmlns:p14="http://schemas.microsoft.com/office/powerpoint/2010/main" val="1616536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B03E67A-6366-42A8-9FC5-9C742AEA1C05}" type="datetime1">
              <a:rPr lang="en-IN" smtClean="0"/>
              <a:t>21-05-2025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5F2725-082E-469A-BF5C-09635F99CEA1}" type="slidenum">
              <a:rPr lang="en-IN" smtClean="0"/>
              <a:t>‹#›</a:t>
            </a:fld>
            <a:endParaRPr lang="en-IN"/>
          </a:p>
        </p:txBody>
      </p:sp>
    </p:spTree>
    <p:extLst>
      <p:ext uri="{BB962C8B-B14F-4D97-AF65-F5344CB8AC3E}">
        <p14:creationId xmlns:p14="http://schemas.microsoft.com/office/powerpoint/2010/main" val="3385421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4931B-60A0-4384-8C09-5AA13BBE070F}" type="datetime1">
              <a:rPr lang="en-IN" smtClean="0"/>
              <a:t>21-05-2025</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595F2725-082E-469A-BF5C-09635F99CEA1}" type="slidenum">
              <a:rPr lang="en-IN" smtClean="0"/>
              <a:t>‹#›</a:t>
            </a:fld>
            <a:endParaRPr lang="en-IN"/>
          </a:p>
        </p:txBody>
      </p:sp>
    </p:spTree>
    <p:extLst>
      <p:ext uri="{BB962C8B-B14F-4D97-AF65-F5344CB8AC3E}">
        <p14:creationId xmlns:p14="http://schemas.microsoft.com/office/powerpoint/2010/main" val="3178351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F748E8-68B8-44BC-96EA-8629BA40099E}" type="datetime1">
              <a:rPr lang="en-IN" smtClean="0"/>
              <a:t>21-05-2025</a:t>
            </a:fld>
            <a:endParaRPr lang="en-IN"/>
          </a:p>
        </p:txBody>
      </p:sp>
      <p:sp>
        <p:nvSpPr>
          <p:cNvPr id="6" name="Footer Placeholder 5"/>
          <p:cNvSpPr>
            <a:spLocks noGrp="1"/>
          </p:cNvSpPr>
          <p:nvPr>
            <p:ph type="ftr" sz="quarter" idx="11"/>
          </p:nvPr>
        </p:nvSpPr>
        <p:spPr/>
        <p:txBody>
          <a:bodyPr/>
          <a:lstStyle/>
          <a:p>
            <a:endParaRPr lang="en-IN"/>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95F2725-082E-469A-BF5C-09635F99CEA1}" type="slidenum">
              <a:rPr lang="en-IN" smtClean="0"/>
              <a:t>‹#›</a:t>
            </a:fld>
            <a:endParaRPr lang="en-IN"/>
          </a:p>
        </p:txBody>
      </p:sp>
    </p:spTree>
    <p:extLst>
      <p:ext uri="{BB962C8B-B14F-4D97-AF65-F5344CB8AC3E}">
        <p14:creationId xmlns:p14="http://schemas.microsoft.com/office/powerpoint/2010/main" val="1364870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F5AD0C-33FA-4181-BFE0-8B986032A47D}" type="datetime1">
              <a:rPr lang="en-IN" smtClean="0"/>
              <a:t>21-05-2025</a:t>
            </a:fld>
            <a:endParaRPr lang="en-IN"/>
          </a:p>
        </p:txBody>
      </p:sp>
      <p:sp>
        <p:nvSpPr>
          <p:cNvPr id="6" name="Footer Placeholder 5"/>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95F2725-082E-469A-BF5C-09635F99CEA1}" type="slidenum">
              <a:rPr lang="en-IN" smtClean="0"/>
              <a:t>‹#›</a:t>
            </a:fld>
            <a:endParaRPr lang="en-IN"/>
          </a:p>
        </p:txBody>
      </p:sp>
    </p:spTree>
    <p:extLst>
      <p:ext uri="{BB962C8B-B14F-4D97-AF65-F5344CB8AC3E}">
        <p14:creationId xmlns:p14="http://schemas.microsoft.com/office/powerpoint/2010/main" val="2422612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67C67A-6C80-4735-A4CF-5F1AB114A4C6}" type="datetime1">
              <a:rPr lang="en-IN" smtClean="0"/>
              <a:t>21-05-2025</a:t>
            </a:fld>
            <a:endParaRPr lang="en-IN"/>
          </a:p>
        </p:txBody>
      </p:sp>
      <p:sp>
        <p:nvSpPr>
          <p:cNvPr id="6" name="Footer Placeholder 5"/>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95F2725-082E-469A-BF5C-09635F99CEA1}" type="slidenum">
              <a:rPr lang="en-IN" smtClean="0"/>
              <a:t>‹#›</a:t>
            </a:fld>
            <a:endParaRPr lang="en-IN"/>
          </a:p>
        </p:txBody>
      </p:sp>
    </p:spTree>
    <p:extLst>
      <p:ext uri="{BB962C8B-B14F-4D97-AF65-F5344CB8AC3E}">
        <p14:creationId xmlns:p14="http://schemas.microsoft.com/office/powerpoint/2010/main" val="155221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09BF5D1-866D-49E9-A074-5984FFCDFB89}" type="datetime1">
              <a:rPr lang="en-IN" smtClean="0"/>
              <a:t>21-05-2025</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95F2725-082E-469A-BF5C-09635F99CEA1}" type="slidenum">
              <a:rPr lang="en-IN" smtClean="0"/>
              <a:t>‹#›</a:t>
            </a:fld>
            <a:endParaRPr lang="en-IN"/>
          </a:p>
        </p:txBody>
      </p:sp>
    </p:spTree>
    <p:extLst>
      <p:ext uri="{BB962C8B-B14F-4D97-AF65-F5344CB8AC3E}">
        <p14:creationId xmlns:p14="http://schemas.microsoft.com/office/powerpoint/2010/main" val="3507903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26BACE4-BAB0-4E7C-A205-4326B6B3F039}" type="datetime1">
              <a:rPr lang="en-IN" smtClean="0"/>
              <a:t>21-05-2025</a:t>
            </a:fld>
            <a:endParaRPr lang="en-IN"/>
          </a:p>
        </p:txBody>
      </p:sp>
      <p:sp>
        <p:nvSpPr>
          <p:cNvPr id="5" name="Footer Placeholder 4"/>
          <p:cNvSpPr>
            <a:spLocks noGrp="1"/>
          </p:cNvSpPr>
          <p:nvPr>
            <p:ph type="ftr" sz="quarter" idx="11"/>
          </p:nvPr>
        </p:nvSpPr>
        <p:spPr/>
        <p:txBody>
          <a:bodyPr/>
          <a:lstStyle/>
          <a:p>
            <a:endParaRPr lang="en-IN"/>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95F2725-082E-469A-BF5C-09635F99CEA1}" type="slidenum">
              <a:rPr lang="en-IN" smtClean="0"/>
              <a:t>‹#›</a:t>
            </a:fld>
            <a:endParaRPr lang="en-IN"/>
          </a:p>
        </p:txBody>
      </p:sp>
    </p:spTree>
    <p:extLst>
      <p:ext uri="{BB962C8B-B14F-4D97-AF65-F5344CB8AC3E}">
        <p14:creationId xmlns:p14="http://schemas.microsoft.com/office/powerpoint/2010/main" val="16090363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77DA84-E5B7-4864-BF2D-36D22CDE5115}" type="datetime1">
              <a:rPr lang="en-IN" smtClean="0"/>
              <a:t>21-05-2025</a:t>
            </a:fld>
            <a:endParaRPr lang="en-IN"/>
          </a:p>
        </p:txBody>
      </p:sp>
      <p:sp>
        <p:nvSpPr>
          <p:cNvPr id="5" name="Footer Placeholder 4"/>
          <p:cNvSpPr>
            <a:spLocks noGrp="1"/>
          </p:cNvSpPr>
          <p:nvPr>
            <p:ph type="ftr" sz="quarter" idx="11"/>
          </p:nvPr>
        </p:nvSpPr>
        <p:spPr/>
        <p:txBody>
          <a:bodyPr/>
          <a:lstStyle/>
          <a:p>
            <a:endParaRPr lang="en-IN"/>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95F2725-082E-469A-BF5C-09635F99CEA1}" type="slidenum">
              <a:rPr lang="en-IN" smtClean="0"/>
              <a:t>‹#›</a:t>
            </a:fld>
            <a:endParaRPr lang="en-IN"/>
          </a:p>
        </p:txBody>
      </p:sp>
    </p:spTree>
    <p:extLst>
      <p:ext uri="{BB962C8B-B14F-4D97-AF65-F5344CB8AC3E}">
        <p14:creationId xmlns:p14="http://schemas.microsoft.com/office/powerpoint/2010/main" val="21305766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4D40833-DEF2-4E03-ADE6-2BB1F259E955}" type="datetime1">
              <a:rPr lang="en-IN" smtClean="0"/>
              <a:t>21-05-2025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5F2725-082E-469A-BF5C-09635F99CEA1}" type="slidenum">
              <a:rPr lang="en-IN" smtClean="0"/>
              <a:t>‹#›</a:t>
            </a:fld>
            <a:endParaRPr lang="en-IN"/>
          </a:p>
        </p:txBody>
      </p:sp>
    </p:spTree>
    <p:extLst>
      <p:ext uri="{BB962C8B-B14F-4D97-AF65-F5344CB8AC3E}">
        <p14:creationId xmlns:p14="http://schemas.microsoft.com/office/powerpoint/2010/main" val="35592683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1386602-14B4-4E67-B8A3-2FA0575E5B6E}" type="datetime1">
              <a:rPr lang="en-IN" smtClean="0"/>
              <a:t>21-05-2025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5F2725-082E-469A-BF5C-09635F99CEA1}" type="slidenum">
              <a:rPr lang="en-IN" smtClean="0"/>
              <a:t>‹#›</a:t>
            </a:fld>
            <a:endParaRPr lang="en-IN"/>
          </a:p>
        </p:txBody>
      </p:sp>
    </p:spTree>
    <p:extLst>
      <p:ext uri="{BB962C8B-B14F-4D97-AF65-F5344CB8AC3E}">
        <p14:creationId xmlns:p14="http://schemas.microsoft.com/office/powerpoint/2010/main" val="19437037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5337DE-55B0-46A4-BE14-14F6F7574149}" type="datetime1">
              <a:rPr lang="en-IN" smtClean="0"/>
              <a:t>21-05-2025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5F2725-082E-469A-BF5C-09635F99CEA1}" type="slidenum">
              <a:rPr lang="en-IN" smtClean="0"/>
              <a:t>‹#›</a:t>
            </a:fld>
            <a:endParaRPr lang="en-IN"/>
          </a:p>
        </p:txBody>
      </p:sp>
    </p:spTree>
    <p:extLst>
      <p:ext uri="{BB962C8B-B14F-4D97-AF65-F5344CB8AC3E}">
        <p14:creationId xmlns:p14="http://schemas.microsoft.com/office/powerpoint/2010/main" val="19794090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6CE0F5-0B11-4A34-9A1E-34BFAA1F95DF}" type="datetime1">
              <a:rPr lang="en-IN" smtClean="0"/>
              <a:t>21-05-2025</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95F2725-082E-469A-BF5C-09635F99CEA1}" type="slidenum">
              <a:rPr lang="en-IN" smtClean="0"/>
              <a:t>‹#›</a:t>
            </a:fld>
            <a:endParaRPr lang="en-IN"/>
          </a:p>
        </p:txBody>
      </p:sp>
    </p:spTree>
    <p:extLst>
      <p:ext uri="{BB962C8B-B14F-4D97-AF65-F5344CB8AC3E}">
        <p14:creationId xmlns:p14="http://schemas.microsoft.com/office/powerpoint/2010/main" val="1153590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11197DEA-47AA-4B94-90CC-2EDD6B075C39}" type="datetime1">
              <a:rPr lang="en-IN" smtClean="0"/>
              <a:t>21-05-2025</a:t>
            </a:fld>
            <a:endParaRPr lang="en-IN"/>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IN"/>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595F2725-082E-469A-BF5C-09635F99CEA1}" type="slidenum">
              <a:rPr lang="en-IN" smtClean="0"/>
              <a:t>‹#›</a:t>
            </a:fld>
            <a:endParaRPr lang="en-IN"/>
          </a:p>
        </p:txBody>
      </p:sp>
    </p:spTree>
    <p:extLst>
      <p:ext uri="{BB962C8B-B14F-4D97-AF65-F5344CB8AC3E}">
        <p14:creationId xmlns:p14="http://schemas.microsoft.com/office/powerpoint/2010/main" val="876854106"/>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Ls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DA41B1-31F5-FA28-BF9D-00A2AC58BBE7}"/>
              </a:ext>
            </a:extLst>
          </p:cNvPr>
          <p:cNvSpPr>
            <a:spLocks noGrp="1"/>
          </p:cNvSpPr>
          <p:nvPr>
            <p:ph type="sldNum" sz="quarter" idx="12"/>
          </p:nvPr>
        </p:nvSpPr>
        <p:spPr/>
        <p:txBody>
          <a:bodyPr/>
          <a:lstStyle/>
          <a:p>
            <a:fld id="{595F2725-082E-469A-BF5C-09635F99CEA1}" type="slidenum">
              <a:rPr lang="en-IN" smtClean="0"/>
              <a:t>1</a:t>
            </a:fld>
            <a:endParaRPr lang="en-IN"/>
          </a:p>
        </p:txBody>
      </p:sp>
      <p:pic>
        <p:nvPicPr>
          <p:cNvPr id="3" name="Picture 2">
            <a:extLst>
              <a:ext uri="{FF2B5EF4-FFF2-40B4-BE49-F238E27FC236}">
                <a16:creationId xmlns:a16="http://schemas.microsoft.com/office/drawing/2014/main" id="{13D8AC24-00C5-0137-5755-D5470EBED515}"/>
              </a:ext>
            </a:extLst>
          </p:cNvPr>
          <p:cNvPicPr>
            <a:picLocks noChangeAspect="1"/>
          </p:cNvPicPr>
          <p:nvPr/>
        </p:nvPicPr>
        <p:blipFill>
          <a:blip r:embed="rId2"/>
          <a:stretch>
            <a:fillRect/>
          </a:stretch>
        </p:blipFill>
        <p:spPr>
          <a:xfrm>
            <a:off x="168986" y="493890"/>
            <a:ext cx="1202069" cy="1139052"/>
          </a:xfrm>
          <a:prstGeom prst="rect">
            <a:avLst/>
          </a:prstGeom>
        </p:spPr>
      </p:pic>
      <p:sp>
        <p:nvSpPr>
          <p:cNvPr id="10" name="TextBox 9">
            <a:extLst>
              <a:ext uri="{FF2B5EF4-FFF2-40B4-BE49-F238E27FC236}">
                <a16:creationId xmlns:a16="http://schemas.microsoft.com/office/drawing/2014/main" id="{EF358B56-8B4B-5405-6B52-E8AECD167C61}"/>
              </a:ext>
            </a:extLst>
          </p:cNvPr>
          <p:cNvSpPr txBox="1"/>
          <p:nvPr/>
        </p:nvSpPr>
        <p:spPr>
          <a:xfrm>
            <a:off x="1722934" y="605165"/>
            <a:ext cx="8277727" cy="1846659"/>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MAHENDRA  INSTITUTE OF TECHNOLOGY </a:t>
            </a:r>
            <a:r>
              <a:rPr lang="en-US" sz="2800" dirty="0">
                <a:latin typeface="Times New Roman" panose="02020603050405020304" pitchFamily="18" charset="0"/>
                <a:cs typeface="Times New Roman" panose="02020603050405020304" pitchFamily="18" charset="0"/>
              </a:rPr>
              <a:t>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(AUTONOMOUS)</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Mahendhirapuri</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Mallasamudram</a:t>
            </a:r>
            <a:r>
              <a:rPr lang="en-US" sz="1800" b="1" dirty="0">
                <a:latin typeface="Times New Roman" panose="02020603050405020304" pitchFamily="18" charset="0"/>
                <a:cs typeface="Times New Roman" panose="02020603050405020304" pitchFamily="18" charset="0"/>
              </a:rPr>
              <a:t>, Namakkal- 637 503</a:t>
            </a: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endParaRPr lang="en-IN" dirty="0"/>
          </a:p>
        </p:txBody>
      </p:sp>
      <p:pic>
        <p:nvPicPr>
          <p:cNvPr id="11" name="Picture 10">
            <a:extLst>
              <a:ext uri="{FF2B5EF4-FFF2-40B4-BE49-F238E27FC236}">
                <a16:creationId xmlns:a16="http://schemas.microsoft.com/office/drawing/2014/main" id="{C5DB2BFA-3FD2-D4B0-6DF7-989A84726321}"/>
              </a:ext>
            </a:extLst>
          </p:cNvPr>
          <p:cNvPicPr>
            <a:picLocks noChangeAspect="1"/>
          </p:cNvPicPr>
          <p:nvPr/>
        </p:nvPicPr>
        <p:blipFill>
          <a:blip r:embed="rId3"/>
          <a:stretch>
            <a:fillRect/>
          </a:stretch>
        </p:blipFill>
        <p:spPr>
          <a:xfrm>
            <a:off x="9386680" y="364534"/>
            <a:ext cx="1227962" cy="1169233"/>
          </a:xfrm>
          <a:prstGeom prst="rect">
            <a:avLst/>
          </a:prstGeom>
        </p:spPr>
      </p:pic>
      <p:sp>
        <p:nvSpPr>
          <p:cNvPr id="13" name="TextBox 12">
            <a:extLst>
              <a:ext uri="{FF2B5EF4-FFF2-40B4-BE49-F238E27FC236}">
                <a16:creationId xmlns:a16="http://schemas.microsoft.com/office/drawing/2014/main" id="{D56C9D4C-150A-1E60-70FC-580432EE5B9C}"/>
              </a:ext>
            </a:extLst>
          </p:cNvPr>
          <p:cNvSpPr txBox="1"/>
          <p:nvPr/>
        </p:nvSpPr>
        <p:spPr>
          <a:xfrm>
            <a:off x="1722934" y="2137457"/>
            <a:ext cx="8823158" cy="369332"/>
          </a:xfrm>
          <a:prstGeom prst="rect">
            <a:avLst/>
          </a:prstGeom>
          <a:noFill/>
        </p:spPr>
        <p:txBody>
          <a:bodyPr wrap="square">
            <a:spAutoFit/>
          </a:bodyPr>
          <a:lstStyle/>
          <a:p>
            <a:r>
              <a:rPr lang="en-US" b="1" dirty="0">
                <a:solidFill>
                  <a:srgbClr val="3333FF"/>
                </a:solidFill>
                <a:latin typeface="Times New Roman" panose="02020603050405020304" pitchFamily="18" charset="0"/>
                <a:cs typeface="Times New Roman" panose="02020603050405020304" pitchFamily="18" charset="0"/>
              </a:rPr>
              <a:t>DEPARTMENT OF ELECTRONICS AND COMMUNICATION ENGINEERING</a:t>
            </a:r>
            <a:endParaRPr lang="en-IN" dirty="0"/>
          </a:p>
        </p:txBody>
      </p:sp>
      <p:sp>
        <p:nvSpPr>
          <p:cNvPr id="15" name="TextBox 14">
            <a:extLst>
              <a:ext uri="{FF2B5EF4-FFF2-40B4-BE49-F238E27FC236}">
                <a16:creationId xmlns:a16="http://schemas.microsoft.com/office/drawing/2014/main" id="{E1A150A1-1CDB-7AB1-7F42-E4AD750772E7}"/>
              </a:ext>
            </a:extLst>
          </p:cNvPr>
          <p:cNvSpPr txBox="1"/>
          <p:nvPr/>
        </p:nvSpPr>
        <p:spPr>
          <a:xfrm>
            <a:off x="497305" y="4509050"/>
            <a:ext cx="6096000" cy="1867178"/>
          </a:xfrm>
          <a:prstGeom prst="rect">
            <a:avLst/>
          </a:prstGeom>
          <a:noFill/>
        </p:spPr>
        <p:txBody>
          <a:bodyPr wrap="square">
            <a:spAutoFit/>
          </a:bodyPr>
          <a:lstStyle/>
          <a:p>
            <a:pPr marL="0" indent="0">
              <a:lnSpc>
                <a:spcPct val="100000"/>
              </a:lnSpc>
              <a:spcBef>
                <a:spcPts val="664"/>
              </a:spcBef>
              <a:buNone/>
            </a:pPr>
            <a:r>
              <a:rPr lang="en-IN" sz="1800" spc="-4" dirty="0">
                <a:latin typeface="Times New Roman" panose="02020603050405020304" pitchFamily="18" charset="0"/>
                <a:cs typeface="Times New Roman" panose="02020603050405020304" pitchFamily="18" charset="0"/>
              </a:rPr>
              <a:t> </a:t>
            </a:r>
            <a:r>
              <a:rPr lang="en-IN" sz="2000" spc="-4" dirty="0">
                <a:latin typeface="Baskerville Old Face" panose="02020602080505020303" pitchFamily="18" charset="0"/>
                <a:cs typeface="Times New Roman" panose="02020603050405020304" pitchFamily="18" charset="0"/>
              </a:rPr>
              <a:t>TEAM</a:t>
            </a:r>
            <a:r>
              <a:rPr lang="en-IN" sz="2000" spc="-38" dirty="0">
                <a:latin typeface="Baskerville Old Face" panose="02020602080505020303" pitchFamily="18" charset="0"/>
                <a:cs typeface="Times New Roman" panose="02020603050405020304" pitchFamily="18" charset="0"/>
              </a:rPr>
              <a:t> </a:t>
            </a:r>
            <a:r>
              <a:rPr lang="en-IN" sz="2000" spc="-8" dirty="0">
                <a:latin typeface="Baskerville Old Face" panose="02020602080505020303" pitchFamily="18" charset="0"/>
                <a:cs typeface="Times New Roman" panose="02020603050405020304" pitchFamily="18" charset="0"/>
              </a:rPr>
              <a:t>MEMBERS</a:t>
            </a:r>
            <a:r>
              <a:rPr lang="en-IN" sz="1800" spc="-8" dirty="0">
                <a:latin typeface="Times New Roman" panose="02020603050405020304" pitchFamily="18" charset="0"/>
                <a:cs typeface="Times New Roman" panose="02020603050405020304" pitchFamily="18" charset="0"/>
              </a:rPr>
              <a:t>:</a:t>
            </a:r>
          </a:p>
          <a:p>
            <a:pPr marL="0" indent="0">
              <a:lnSpc>
                <a:spcPct val="100000"/>
              </a:lnSpc>
              <a:spcBef>
                <a:spcPts val="664"/>
              </a:spcBef>
              <a:buNone/>
            </a:pPr>
            <a:r>
              <a:rPr lang="en-IN" sz="2000" spc="-8" dirty="0">
                <a:latin typeface="Baskerville Old Face" panose="02020602080505020303" pitchFamily="18" charset="0"/>
                <a:cs typeface="Times New Roman" panose="02020603050405020304" pitchFamily="18" charset="0"/>
              </a:rPr>
              <a:t>Students Name – Register-number</a:t>
            </a:r>
          </a:p>
          <a:p>
            <a:pPr marL="0" indent="0">
              <a:lnSpc>
                <a:spcPct val="100000"/>
              </a:lnSpc>
              <a:spcBef>
                <a:spcPts val="664"/>
              </a:spcBef>
              <a:buNone/>
            </a:pPr>
            <a:r>
              <a:rPr lang="en-IN" sz="1800" spc="-8" dirty="0">
                <a:latin typeface="Baskerville Old Face" panose="02020602080505020303" pitchFamily="18" charset="0"/>
                <a:cs typeface="Times New Roman" panose="02020603050405020304" pitchFamily="18" charset="0"/>
              </a:rPr>
              <a:t>ABINAYAN V         611621406001</a:t>
            </a:r>
          </a:p>
          <a:p>
            <a:pPr marL="0" indent="0">
              <a:lnSpc>
                <a:spcPct val="100000"/>
              </a:lnSpc>
              <a:spcBef>
                <a:spcPts val="664"/>
              </a:spcBef>
              <a:buNone/>
            </a:pPr>
            <a:r>
              <a:rPr lang="en-IN" sz="1800" spc="-8" dirty="0">
                <a:latin typeface="Baskerville Old Face" panose="02020602080505020303" pitchFamily="18" charset="0"/>
                <a:cs typeface="Times New Roman" panose="02020603050405020304" pitchFamily="18" charset="0"/>
              </a:rPr>
              <a:t>DHIWAHAR A        611621406017</a:t>
            </a:r>
          </a:p>
          <a:p>
            <a:pPr marL="0" indent="0">
              <a:lnSpc>
                <a:spcPct val="100000"/>
              </a:lnSpc>
              <a:spcBef>
                <a:spcPts val="664"/>
              </a:spcBef>
              <a:buNone/>
            </a:pPr>
            <a:r>
              <a:rPr lang="en-IN" sz="1800" spc="-8" dirty="0">
                <a:latin typeface="Baskerville Old Face" panose="02020602080505020303" pitchFamily="18" charset="0"/>
                <a:cs typeface="Times New Roman" panose="02020603050405020304" pitchFamily="18" charset="0"/>
              </a:rPr>
              <a:t>GOKILAN S            611621406023 </a:t>
            </a:r>
            <a:endParaRPr lang="en-IN" dirty="0">
              <a:latin typeface="Baskerville Old Face" panose="02020602080505020303" pitchFamily="18" charset="0"/>
            </a:endParaRPr>
          </a:p>
        </p:txBody>
      </p:sp>
      <p:sp>
        <p:nvSpPr>
          <p:cNvPr id="17" name="TextBox 16">
            <a:extLst>
              <a:ext uri="{FF2B5EF4-FFF2-40B4-BE49-F238E27FC236}">
                <a16:creationId xmlns:a16="http://schemas.microsoft.com/office/drawing/2014/main" id="{F032C4D6-0A51-7757-B110-A778BFF2566A}"/>
              </a:ext>
            </a:extLst>
          </p:cNvPr>
          <p:cNvSpPr txBox="1"/>
          <p:nvPr/>
        </p:nvSpPr>
        <p:spPr>
          <a:xfrm>
            <a:off x="6817895" y="4509050"/>
            <a:ext cx="6844747" cy="1535292"/>
          </a:xfrm>
          <a:prstGeom prst="rect">
            <a:avLst/>
          </a:prstGeom>
          <a:noFill/>
        </p:spPr>
        <p:txBody>
          <a:bodyPr wrap="square">
            <a:spAutoFit/>
          </a:bodyPr>
          <a:lstStyle/>
          <a:p>
            <a:pPr marL="0" indent="0" fontAlgn="auto">
              <a:spcBef>
                <a:spcPts val="614"/>
              </a:spcBef>
              <a:spcAft>
                <a:spcPts val="0"/>
              </a:spcAft>
              <a:buFont typeface="Wingdings"/>
              <a:buNone/>
            </a:pPr>
            <a:r>
              <a:rPr lang="en-US" sz="2000" spc="-4" dirty="0">
                <a:latin typeface="Baskerville Old Face" panose="02020602080505020303" pitchFamily="18" charset="0"/>
                <a:cs typeface="Times New Roman" panose="02020603050405020304" pitchFamily="18" charset="0"/>
              </a:rPr>
              <a:t>GUIDED</a:t>
            </a:r>
            <a:r>
              <a:rPr lang="en-US" sz="2000" spc="-45" dirty="0">
                <a:latin typeface="Baskerville Old Face" panose="02020602080505020303" pitchFamily="18" charset="0"/>
                <a:cs typeface="Times New Roman" panose="02020603050405020304" pitchFamily="18" charset="0"/>
              </a:rPr>
              <a:t> </a:t>
            </a:r>
            <a:r>
              <a:rPr lang="en-US" sz="2000" spc="-34" dirty="0">
                <a:latin typeface="Baskerville Old Face" panose="02020602080505020303" pitchFamily="18" charset="0"/>
                <a:cs typeface="Times New Roman" panose="02020603050405020304" pitchFamily="18" charset="0"/>
              </a:rPr>
              <a:t>BY</a:t>
            </a:r>
          </a:p>
          <a:p>
            <a:pPr marL="0" marR="3810" indent="0" fontAlgn="auto">
              <a:lnSpc>
                <a:spcPct val="124200"/>
              </a:lnSpc>
              <a:spcBef>
                <a:spcPts val="19"/>
              </a:spcBef>
              <a:spcAft>
                <a:spcPts val="0"/>
              </a:spcAft>
              <a:buFont typeface="Wingdings"/>
              <a:buNone/>
            </a:pPr>
            <a:r>
              <a:rPr lang="en-US" sz="2000" spc="-15" dirty="0" err="1">
                <a:latin typeface="Baskerville Old Face" panose="02020602080505020303" pitchFamily="18" charset="0"/>
                <a:cs typeface="Times New Roman" panose="02020603050405020304" pitchFamily="18" charset="0"/>
              </a:rPr>
              <a:t>DR.ELLAPPAN,M.E,Ph.D</a:t>
            </a:r>
            <a:endParaRPr lang="en-US" sz="2000" spc="-15" dirty="0">
              <a:latin typeface="Baskerville Old Face" panose="02020602080505020303" pitchFamily="18" charset="0"/>
              <a:cs typeface="Times New Roman" panose="02020603050405020304" pitchFamily="18" charset="0"/>
            </a:endParaRPr>
          </a:p>
          <a:p>
            <a:pPr marL="0" marR="3810" indent="0" fontAlgn="auto">
              <a:lnSpc>
                <a:spcPct val="124200"/>
              </a:lnSpc>
              <a:spcBef>
                <a:spcPts val="19"/>
              </a:spcBef>
              <a:spcAft>
                <a:spcPts val="0"/>
              </a:spcAft>
              <a:buFont typeface="Wingdings"/>
              <a:buNone/>
            </a:pPr>
            <a:r>
              <a:rPr lang="en-US" sz="2000" spc="-15" dirty="0">
                <a:latin typeface="Baskerville Old Face" panose="02020602080505020303" pitchFamily="18" charset="0"/>
                <a:cs typeface="Times New Roman" panose="02020603050405020304" pitchFamily="18" charset="0"/>
              </a:rPr>
              <a:t>PROFFSSOR/ </a:t>
            </a:r>
            <a:r>
              <a:rPr lang="en-US" sz="2000" spc="-11" dirty="0">
                <a:latin typeface="Baskerville Old Face" panose="02020602080505020303" pitchFamily="18" charset="0"/>
                <a:cs typeface="Times New Roman" panose="02020603050405020304" pitchFamily="18" charset="0"/>
              </a:rPr>
              <a:t>ECE</a:t>
            </a:r>
          </a:p>
          <a:p>
            <a:pPr marL="0" indent="0" fontAlgn="auto">
              <a:spcBef>
                <a:spcPts val="540"/>
              </a:spcBef>
              <a:spcAft>
                <a:spcPts val="0"/>
              </a:spcAft>
              <a:buFont typeface="Wingdings"/>
              <a:buNone/>
            </a:pPr>
            <a:r>
              <a:rPr lang="en-US" sz="2000" spc="-11" dirty="0">
                <a:latin typeface="Baskerville Old Face" panose="02020602080505020303" pitchFamily="18" charset="0"/>
                <a:cs typeface="Times New Roman" panose="02020603050405020304" pitchFamily="18" charset="0"/>
              </a:rPr>
              <a:t>Mahendra Institute of Technology</a:t>
            </a:r>
          </a:p>
        </p:txBody>
      </p:sp>
      <p:sp>
        <p:nvSpPr>
          <p:cNvPr id="18" name="Rectangle 17">
            <a:extLst>
              <a:ext uri="{FF2B5EF4-FFF2-40B4-BE49-F238E27FC236}">
                <a16:creationId xmlns:a16="http://schemas.microsoft.com/office/drawing/2014/main" id="{E06523B2-187C-3207-CAAE-595608744AF4}"/>
              </a:ext>
            </a:extLst>
          </p:cNvPr>
          <p:cNvSpPr/>
          <p:nvPr/>
        </p:nvSpPr>
        <p:spPr>
          <a:xfrm>
            <a:off x="3152272" y="3323253"/>
            <a:ext cx="4572000" cy="369332"/>
          </a:xfrm>
          <a:prstGeom prst="rect">
            <a:avLst/>
          </a:prstGeom>
        </p:spPr>
        <p:txBody>
          <a:bodyPr>
            <a:spAutoFit/>
          </a:bodyPr>
          <a:lstStyle>
            <a:defPPr>
              <a:defRPr lang="en-US"/>
            </a:defPPr>
            <a:lvl1pPr algn="l" rtl="0" eaLnBrk="0" fontAlgn="base" hangingPunct="0">
              <a:spcBef>
                <a:spcPct val="0"/>
              </a:spcBef>
              <a:spcAft>
                <a:spcPct val="0"/>
              </a:spcAft>
              <a:defRPr kern="1200">
                <a:solidFill>
                  <a:schemeClr val="tx1"/>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r>
              <a:rPr lang="en-US" b="1" dirty="0">
                <a:solidFill>
                  <a:srgbClr val="990000"/>
                </a:solidFill>
                <a:latin typeface="Times New Roman" panose="02020603050405020304" pitchFamily="18" charset="0"/>
                <a:cs typeface="Times New Roman" panose="02020603050405020304" pitchFamily="18" charset="0"/>
              </a:rPr>
              <a:t>A MAIN PROJECT </a:t>
            </a:r>
            <a:endParaRPr lang="en-US" b="1" dirty="0">
              <a:solidFill>
                <a:srgbClr val="990000"/>
              </a:solidFill>
            </a:endParaRPr>
          </a:p>
        </p:txBody>
      </p:sp>
    </p:spTree>
    <p:extLst>
      <p:ext uri="{BB962C8B-B14F-4D97-AF65-F5344CB8AC3E}">
        <p14:creationId xmlns:p14="http://schemas.microsoft.com/office/powerpoint/2010/main" val="3141818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8677B-F14D-875C-3D54-9342B4C9C8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FFA46C-9D89-9A25-CAEC-6C25744FD695}"/>
              </a:ext>
            </a:extLst>
          </p:cNvPr>
          <p:cNvSpPr>
            <a:spLocks noGrp="1"/>
          </p:cNvSpPr>
          <p:nvPr>
            <p:ph type="title"/>
          </p:nvPr>
        </p:nvSpPr>
        <p:spPr>
          <a:xfrm>
            <a:off x="855406" y="727587"/>
            <a:ext cx="11946193" cy="2701413"/>
          </a:xfrm>
        </p:spPr>
        <p:txBody>
          <a:bodyPr/>
          <a:lstStyle/>
          <a:p>
            <a:pPr marR="495300">
              <a:lnSpc>
                <a:spcPct val="110000"/>
              </a:lnSpc>
              <a:spcBef>
                <a:spcPts val="320"/>
              </a:spcBef>
              <a:buNone/>
              <a:tabLst>
                <a:tab pos="5086350" algn="l"/>
                <a:tab pos="5486400" algn="l"/>
                <a:tab pos="5600700" algn="l"/>
                <a:tab pos="5772150" algn="l"/>
                <a:tab pos="5943600" algn="l"/>
                <a:tab pos="5981700" algn="l"/>
                <a:tab pos="6229350" algn="l"/>
              </a:tabLst>
            </a:pPr>
            <a:r>
              <a:rPr lang="en-US" sz="1800" b="1" dirty="0">
                <a:effectLst/>
                <a:latin typeface="Times New Roman" panose="02020603050405020304" pitchFamily="18" charset="0"/>
                <a:ea typeface="Times New Roman" panose="02020603050405020304" pitchFamily="18" charset="0"/>
              </a:rPr>
              <a:t>IMAGE  SEGMENTATION TECHNIQUE </a:t>
            </a:r>
            <a:br>
              <a:rPr lang="en-IN" sz="1800" b="1" dirty="0">
                <a:latin typeface="Times New Roman" panose="02020603050405020304" pitchFamily="18" charset="0"/>
                <a:ea typeface="Times New Roman" panose="02020603050405020304" pitchFamily="18" charset="0"/>
              </a:rPr>
            </a:br>
            <a:r>
              <a:rPr lang="en-US" sz="1800" b="1" dirty="0">
                <a:effectLst/>
                <a:latin typeface="Times New Roman" panose="02020603050405020304" pitchFamily="18" charset="0"/>
                <a:ea typeface="Times New Roman" panose="02020603050405020304" pitchFamily="18" charset="0"/>
              </a:rPr>
              <a:t>FOR AUTOMATIC DETECTION </a:t>
            </a:r>
            <a:br>
              <a:rPr lang="en-IN" sz="1800" dirty="0">
                <a:effectLst/>
                <a:latin typeface="Times New Roman" panose="02020603050405020304" pitchFamily="18" charset="0"/>
                <a:ea typeface="Times New Roman" panose="02020603050405020304" pitchFamily="18" charset="0"/>
              </a:rPr>
            </a:br>
            <a:r>
              <a:rPr lang="en-US" sz="1800" b="1" dirty="0">
                <a:effectLst/>
                <a:latin typeface="Times New Roman" panose="02020603050405020304" pitchFamily="18" charset="0"/>
                <a:ea typeface="Times New Roman" panose="02020603050405020304" pitchFamily="18" charset="0"/>
              </a:rPr>
              <a:t>CLASSIFICATION OF AGRICULTURAL</a:t>
            </a:r>
            <a:br>
              <a:rPr lang="en-IN" sz="1800" dirty="0">
                <a:effectLst/>
                <a:latin typeface="Times New Roman" panose="02020603050405020304" pitchFamily="18" charset="0"/>
                <a:ea typeface="Times New Roman" panose="02020603050405020304" pitchFamily="18" charset="0"/>
              </a:rPr>
            </a:br>
            <a:r>
              <a:rPr lang="en-US" sz="1800" b="1" dirty="0">
                <a:effectLst/>
                <a:latin typeface="Times New Roman" panose="02020603050405020304" pitchFamily="18" charset="0"/>
                <a:ea typeface="Times New Roman" panose="02020603050405020304" pitchFamily="18" charset="0"/>
              </a:rPr>
              <a:t>DISEASE USING MATLAB</a:t>
            </a:r>
            <a:br>
              <a:rPr lang="en-IN" sz="1800" dirty="0">
                <a:effectLst/>
                <a:latin typeface="Times New Roman" panose="02020603050405020304" pitchFamily="18" charset="0"/>
                <a:ea typeface="Times New Roman" panose="02020603050405020304" pitchFamily="18" charset="0"/>
              </a:rPr>
            </a:br>
            <a:br>
              <a:rPr lang="en-IN" sz="3600" dirty="0">
                <a:latin typeface="Baskerville Old Face" panose="02020602080505020303" pitchFamily="18" charset="0"/>
              </a:rPr>
            </a:br>
            <a:endParaRPr lang="en-IN" sz="3600" dirty="0">
              <a:latin typeface="Baskerville Old Face" panose="02020602080505020303" pitchFamily="18" charset="0"/>
            </a:endParaRPr>
          </a:p>
        </p:txBody>
      </p:sp>
      <p:sp>
        <p:nvSpPr>
          <p:cNvPr id="3" name="Text Placeholder 2">
            <a:extLst>
              <a:ext uri="{FF2B5EF4-FFF2-40B4-BE49-F238E27FC236}">
                <a16:creationId xmlns:a16="http://schemas.microsoft.com/office/drawing/2014/main" id="{4C0F7990-20F3-38DB-7B5E-A0493C4F2CE9}"/>
              </a:ext>
            </a:extLst>
          </p:cNvPr>
          <p:cNvSpPr>
            <a:spLocks noGrp="1"/>
          </p:cNvSpPr>
          <p:nvPr>
            <p:ph type="body" sz="half" idx="2"/>
          </p:nvPr>
        </p:nvSpPr>
        <p:spPr>
          <a:xfrm>
            <a:off x="-1071716" y="3283973"/>
            <a:ext cx="12968748" cy="3146323"/>
          </a:xfrm>
        </p:spPr>
        <p:txBody>
          <a:bodyPr>
            <a:normAutofit/>
          </a:bodyPr>
          <a:lstStyle/>
          <a:p>
            <a:r>
              <a:rPr lang="en-IN" sz="2400" dirty="0">
                <a:latin typeface="Baskerville Old Face" panose="02020602080505020303" pitchFamily="18" charset="0"/>
              </a:rPr>
              <a:t>                                   TEAM  MEMBERS</a:t>
            </a:r>
          </a:p>
          <a:p>
            <a:r>
              <a:rPr lang="en-IN" sz="2400" dirty="0">
                <a:latin typeface="Baskerville Old Face" panose="02020602080505020303" pitchFamily="18" charset="0"/>
              </a:rPr>
              <a:t>                         Student Name   -    Register Number                          Guide By,</a:t>
            </a:r>
          </a:p>
          <a:p>
            <a:r>
              <a:rPr lang="en-IN" sz="2400" dirty="0">
                <a:latin typeface="Baskerville Old Face" panose="02020602080505020303" pitchFamily="18" charset="0"/>
              </a:rPr>
              <a:t>                        ABINAYAN V        611621406017                             DR.ELLAPPAN,M.E,PH.D,</a:t>
            </a:r>
          </a:p>
          <a:p>
            <a:r>
              <a:rPr lang="en-IN" sz="2400" dirty="0">
                <a:latin typeface="Baskerville Old Face" panose="02020602080505020303" pitchFamily="18" charset="0"/>
              </a:rPr>
              <a:t>                        GOKILAN S           611621406023                             PROFESSOR/ECE ,</a:t>
            </a:r>
          </a:p>
          <a:p>
            <a:r>
              <a:rPr lang="en-IN" sz="2400" dirty="0">
                <a:latin typeface="Baskerville Old Face" panose="02020602080505020303" pitchFamily="18" charset="0"/>
              </a:rPr>
              <a:t>                      DHIWAHAR A        611621406017                             Mahendra Institute Of Technology</a:t>
            </a:r>
          </a:p>
          <a:p>
            <a:endParaRPr lang="en-IN" dirty="0"/>
          </a:p>
        </p:txBody>
      </p:sp>
      <p:sp>
        <p:nvSpPr>
          <p:cNvPr id="9" name="Slide Number Placeholder 8">
            <a:extLst>
              <a:ext uri="{FF2B5EF4-FFF2-40B4-BE49-F238E27FC236}">
                <a16:creationId xmlns:a16="http://schemas.microsoft.com/office/drawing/2014/main" id="{8AF0DADC-8683-2238-C12B-1DF1A7AE2ACB}"/>
              </a:ext>
            </a:extLst>
          </p:cNvPr>
          <p:cNvSpPr>
            <a:spLocks noGrp="1"/>
          </p:cNvSpPr>
          <p:nvPr>
            <p:ph type="sldNum" sz="quarter" idx="12"/>
          </p:nvPr>
        </p:nvSpPr>
        <p:spPr/>
        <p:txBody>
          <a:bodyPr/>
          <a:lstStyle/>
          <a:p>
            <a:fld id="{595F2725-082E-469A-BF5C-09635F99CEA1}" type="slidenum">
              <a:rPr lang="en-IN" smtClean="0"/>
              <a:t>2</a:t>
            </a:fld>
            <a:endParaRPr lang="en-IN"/>
          </a:p>
        </p:txBody>
      </p:sp>
    </p:spTree>
    <p:extLst>
      <p:ext uri="{BB962C8B-B14F-4D97-AF65-F5344CB8AC3E}">
        <p14:creationId xmlns:p14="http://schemas.microsoft.com/office/powerpoint/2010/main" val="749905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DDC08C8-8EE1-1EFD-86CC-49FE6B89A597}"/>
              </a:ext>
            </a:extLst>
          </p:cNvPr>
          <p:cNvSpPr txBox="1"/>
          <p:nvPr/>
        </p:nvSpPr>
        <p:spPr>
          <a:xfrm>
            <a:off x="334297" y="648929"/>
            <a:ext cx="11013682" cy="6124754"/>
          </a:xfrm>
          <a:prstGeom prst="rect">
            <a:avLst/>
          </a:prstGeom>
          <a:noFill/>
        </p:spPr>
        <p:txBody>
          <a:bodyPr wrap="square">
            <a:spAutoFit/>
          </a:bodyPr>
          <a:lstStyle/>
          <a:p>
            <a:pPr algn="just"/>
            <a:r>
              <a:rPr lang="en-US" sz="1800" dirty="0">
                <a:effectLst/>
                <a:latin typeface="Times New Roman" panose="02020603050405020304" pitchFamily="18" charset="0"/>
                <a:ea typeface="Times New Roman" panose="02020603050405020304" pitchFamily="18" charset="0"/>
              </a:rPr>
              <a:t> </a:t>
            </a:r>
            <a:r>
              <a:rPr lang="en-US" sz="2800" b="1" dirty="0">
                <a:latin typeface="Times New Roman" panose="02020603050405020304" pitchFamily="18" charset="0"/>
                <a:ea typeface="Times New Roman" panose="02020603050405020304" pitchFamily="18" charset="0"/>
              </a:rPr>
              <a:t>A</a:t>
            </a:r>
            <a:r>
              <a:rPr lang="en-US" sz="2800" b="1" dirty="0">
                <a:effectLst/>
                <a:latin typeface="Times New Roman" panose="02020603050405020304" pitchFamily="18" charset="0"/>
                <a:ea typeface="Times New Roman" panose="02020603050405020304" pitchFamily="18" charset="0"/>
              </a:rPr>
              <a:t>bstract</a:t>
            </a:r>
            <a:endParaRPr lang="en-IN" b="1" dirty="0">
              <a:effectLst/>
              <a:latin typeface="Times New Roman" panose="02020603050405020304" pitchFamily="18" charset="0"/>
              <a:ea typeface="Times New Roman" panose="02020603050405020304" pitchFamily="18" charset="0"/>
            </a:endParaRPr>
          </a:p>
          <a:p>
            <a:pPr algn="just">
              <a:lnSpc>
                <a:spcPct val="100000"/>
              </a:lnSpc>
              <a:buNone/>
            </a:pPr>
            <a:r>
              <a:rPr lang="en-US" sz="1800" dirty="0">
                <a:effectLst/>
                <a:latin typeface="Times New Roman" panose="02020603050405020304" pitchFamily="18" charset="0"/>
                <a:ea typeface="Times New Roman" panose="02020603050405020304" pitchFamily="18" charset="0"/>
              </a:rPr>
              <a:t>                                                                                                                                                                           </a:t>
            </a:r>
          </a:p>
          <a:p>
            <a:pPr algn="just">
              <a:lnSpc>
                <a:spcPct val="100000"/>
              </a:lnSpc>
              <a:buNone/>
            </a:pPr>
            <a:r>
              <a:rPr lang="en-US" sz="1800" dirty="0">
                <a:effectLst/>
                <a:latin typeface="Times New Roman" panose="02020603050405020304" pitchFamily="18" charset="0"/>
                <a:ea typeface="Times New Roman" panose="02020603050405020304" pitchFamily="18" charset="0"/>
              </a:rPr>
              <a:t>Agriculture is a key pillar of economic growth and sustenance, especially in India, where it contributes 16% to the GDP and employs nearly 52% of the population. Crop health is essential to ensure productivity and food security. However, diseases in plants can significantly reduce yield and quality. This thesis focuses on an image segmentation technique using MATLAB for the automatic detection and classification of agricultural plant diseases, aiming to enhance efficiency and accuracy over traditional manual monitoring.</a:t>
            </a:r>
            <a:endParaRPr lang="en-IN" sz="1800" dirty="0">
              <a:effectLst/>
              <a:latin typeface="Times New Roman" panose="02020603050405020304" pitchFamily="18" charset="0"/>
              <a:ea typeface="Times New Roman" panose="02020603050405020304" pitchFamily="18" charset="0"/>
            </a:endParaRPr>
          </a:p>
          <a:p>
            <a:pPr algn="just">
              <a:lnSpc>
                <a:spcPct val="100000"/>
              </a:lnSpc>
              <a:buNone/>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lgn="just">
              <a:lnSpc>
                <a:spcPct val="100000"/>
              </a:lnSpc>
              <a:buNone/>
            </a:pPr>
            <a:r>
              <a:rPr lang="en-US" sz="1800" dirty="0">
                <a:effectLst/>
                <a:latin typeface="Times New Roman" panose="02020603050405020304" pitchFamily="18" charset="0"/>
                <a:ea typeface="Times New Roman" panose="02020603050405020304" pitchFamily="18" charset="0"/>
              </a:rPr>
              <a:t>Image processing techniques play a vital role in analyzing leaf images to detect disease symptoms early. By using color conversion, grayscale transformation, and histogram equalization, the clarity and contrast of images are improved, making it easier to identify disease-related patterns. Original RGB images are transformed into normalized forms (range 0–1), simplifying processing and improving the precision of subsequent steps.</a:t>
            </a:r>
            <a:endParaRPr lang="en-IN" sz="1800" dirty="0">
              <a:effectLst/>
              <a:latin typeface="Times New Roman" panose="02020603050405020304" pitchFamily="18" charset="0"/>
              <a:ea typeface="Times New Roman" panose="02020603050405020304" pitchFamily="18" charset="0"/>
            </a:endParaRPr>
          </a:p>
          <a:p>
            <a:pPr algn="just">
              <a:lnSpc>
                <a:spcPct val="100000"/>
              </a:lnSpc>
              <a:buNone/>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lgn="just">
              <a:lnSpc>
                <a:spcPct val="100000"/>
              </a:lnSpc>
              <a:buNone/>
            </a:pPr>
            <a:r>
              <a:rPr lang="en-US" sz="1800" dirty="0">
                <a:effectLst/>
                <a:latin typeface="Times New Roman" panose="02020603050405020304" pitchFamily="18" charset="0"/>
                <a:ea typeface="Times New Roman" panose="02020603050405020304" pitchFamily="18" charset="0"/>
              </a:rPr>
              <a:t>Automatic detection helps reduce the labor-intensive task of field inspections, especially in large-scale farming. Enhanced images offer better visual inputs for algorithms to isolate and analyze disease-affected areas. This method also benefits from computer vision applications found in other domains such as remote sensing and medical imaging.</a:t>
            </a:r>
            <a:endParaRPr lang="en-IN" sz="1800" dirty="0">
              <a:effectLst/>
              <a:latin typeface="Times New Roman" panose="02020603050405020304" pitchFamily="18" charset="0"/>
              <a:ea typeface="Times New Roman" panose="02020603050405020304" pitchFamily="18" charset="0"/>
            </a:endParaRPr>
          </a:p>
          <a:p>
            <a:pPr algn="just">
              <a:lnSpc>
                <a:spcPct val="100000"/>
              </a:lnSpc>
              <a:buNone/>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lgn="just">
              <a:lnSpc>
                <a:spcPct val="100000"/>
              </a:lnSpc>
              <a:buNone/>
            </a:pPr>
            <a:r>
              <a:rPr lang="en-US" sz="1800" dirty="0">
                <a:effectLst/>
                <a:latin typeface="Times New Roman" panose="02020603050405020304" pitchFamily="18" charset="0"/>
                <a:ea typeface="Times New Roman" panose="02020603050405020304" pitchFamily="18" charset="0"/>
              </a:rPr>
              <a:t>The research also addresses image enhancement challenges such as poor lighting, contrast degradation, noise, and blurring, which can negatively impact disease detection accuracy. Techniques like histogram equalization are applied to balance pixel intensities and reveal hidden details in low-quality images.</a:t>
            </a:r>
            <a:endParaRPr lang="en-IN" sz="1800" dirty="0">
              <a:effectLst/>
              <a:latin typeface="Times New Roman" panose="02020603050405020304" pitchFamily="18" charset="0"/>
              <a:ea typeface="Times New Roman" panose="02020603050405020304" pitchFamily="18" charset="0"/>
            </a:endParaRPr>
          </a:p>
          <a:p>
            <a:pPr algn="just">
              <a:lnSpc>
                <a:spcPct val="100000"/>
              </a:lnSpc>
              <a:buNone/>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sp>
        <p:nvSpPr>
          <p:cNvPr id="6" name="Slide Number Placeholder 5">
            <a:extLst>
              <a:ext uri="{FF2B5EF4-FFF2-40B4-BE49-F238E27FC236}">
                <a16:creationId xmlns:a16="http://schemas.microsoft.com/office/drawing/2014/main" id="{77C34EFD-9190-B74F-9EE7-AE94F69FC836}"/>
              </a:ext>
            </a:extLst>
          </p:cNvPr>
          <p:cNvSpPr>
            <a:spLocks noGrp="1"/>
          </p:cNvSpPr>
          <p:nvPr>
            <p:ph type="sldNum" sz="quarter" idx="12"/>
          </p:nvPr>
        </p:nvSpPr>
        <p:spPr/>
        <p:txBody>
          <a:bodyPr/>
          <a:lstStyle/>
          <a:p>
            <a:fld id="{595F2725-082E-469A-BF5C-09635F99CEA1}" type="slidenum">
              <a:rPr lang="en-IN" smtClean="0"/>
              <a:t>3</a:t>
            </a:fld>
            <a:endParaRPr lang="en-IN"/>
          </a:p>
        </p:txBody>
      </p:sp>
    </p:spTree>
    <p:extLst>
      <p:ext uri="{BB962C8B-B14F-4D97-AF65-F5344CB8AC3E}">
        <p14:creationId xmlns:p14="http://schemas.microsoft.com/office/powerpoint/2010/main" val="418297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1E1879-9510-7CF4-33CF-E566363FD9D1}"/>
              </a:ext>
            </a:extLst>
          </p:cNvPr>
          <p:cNvSpPr txBox="1"/>
          <p:nvPr/>
        </p:nvSpPr>
        <p:spPr>
          <a:xfrm>
            <a:off x="287153" y="679572"/>
            <a:ext cx="11373853" cy="5663089"/>
          </a:xfrm>
          <a:prstGeom prst="rect">
            <a:avLst/>
          </a:prstGeom>
          <a:noFill/>
        </p:spPr>
        <p:txBody>
          <a:bodyPr wrap="square">
            <a:spAutoFit/>
          </a:bodyPr>
          <a:lstStyle/>
          <a:p>
            <a:pPr algn="just">
              <a:buNone/>
            </a:pPr>
            <a:r>
              <a:rPr lang="en-US" sz="2800" b="1" dirty="0">
                <a:effectLst/>
                <a:latin typeface="Baskerville Old Face" panose="02020602080505020303" pitchFamily="18" charset="0"/>
                <a:ea typeface="Times New Roman" panose="02020603050405020304" pitchFamily="18" charset="0"/>
              </a:rPr>
              <a:t>Introduction</a:t>
            </a:r>
          </a:p>
          <a:p>
            <a:pPr algn="just">
              <a:buNone/>
            </a:pPr>
            <a:endParaRPr lang="en-IN" sz="2800" b="1" dirty="0">
              <a:effectLst/>
              <a:latin typeface="Baskerville Old Face" panose="02020602080505020303" pitchFamily="18" charset="0"/>
              <a:ea typeface="Times New Roman" panose="02020603050405020304" pitchFamily="18" charset="0"/>
            </a:endParaRPr>
          </a:p>
          <a:p>
            <a:pPr algn="just">
              <a:buNone/>
            </a:pPr>
            <a:r>
              <a:rPr lang="en-IN" sz="1800" dirty="0">
                <a:solidFill>
                  <a:srgbClr val="000000"/>
                </a:solidFill>
                <a:effectLst/>
                <a:latin typeface="Times New Roman" panose="02020603050405020304" pitchFamily="18" charset="0"/>
                <a:ea typeface="Times New Roman" panose="02020603050405020304" pitchFamily="18" charset="0"/>
              </a:rPr>
              <a:t>	The agricultural land mass has several uses in the modern world, beyond only producing food. Productivity in agriculture has a major role in the Indian economy. As a result, plant disease identification is crucial in the agricultural industry. Using an automated disease detection approach can help identify plant diseases in their very early stages. The current approach for detecting plant diseases involves professionals identifying and detecting the illnesses with their naked eyes .</a:t>
            </a:r>
          </a:p>
          <a:p>
            <a:pPr algn="just"/>
            <a:r>
              <a:rPr lang="en-IN" sz="1800" kern="100" dirty="0">
                <a:solidFill>
                  <a:srgbClr val="000000"/>
                </a:solidFill>
                <a:effectLst/>
                <a:latin typeface="Times New Roman" panose="02020603050405020304" pitchFamily="18" charset="0"/>
                <a:ea typeface="Times New Roman" panose="02020603050405020304" pitchFamily="18" charset="0"/>
              </a:rPr>
              <a:t>	Visual diagnosis of plant diseases is more time-consuming, less accurate, and only practical in certain situations. On the other hand, using an automated detection approach will save time, effort, and improve accuracy. Image processing is utilised to quantify disease-affected regions and ascertain the variation in colour of the afflicted area. </a:t>
            </a:r>
          </a:p>
          <a:p>
            <a:pPr algn="just"/>
            <a:r>
              <a:rPr lang="en-IN" sz="1800" dirty="0">
                <a:solidFill>
                  <a:srgbClr val="000000"/>
                </a:solidFill>
                <a:effectLst/>
                <a:latin typeface="Times New Roman" panose="02020603050405020304" pitchFamily="18" charset="0"/>
                <a:ea typeface="Times New Roman" panose="02020603050405020304" pitchFamily="18" charset="0"/>
              </a:rPr>
              <a:t>	The technique of splitting or organising a picture into distinct sections is known as image segmentation. There are several picture segmentation techniques available today, ranging from basic holdover approaches to sophisticated colour image segmentation techniques. These components often relate to things that are simple for individuals to distinguish and perceive as distinct entities. [2, 3]. Since computers are incapable of sophisticated object recognition, a wide variety of techniques have been devised to segment pictures. The image different attributes serve as the basis for the segmentation procedure. </a:t>
            </a:r>
          </a:p>
          <a:p>
            <a:pPr algn="just"/>
            <a:r>
              <a:rPr lang="en-IN" sz="1800" dirty="0">
                <a:solidFill>
                  <a:srgbClr val="000000"/>
                </a:solidFill>
                <a:effectLst/>
                <a:latin typeface="Times New Roman" panose="02020603050405020304" pitchFamily="18" charset="0"/>
                <a:ea typeface="Times New Roman" panose="02020603050405020304" pitchFamily="18" charset="0"/>
              </a:rPr>
              <a:t>	A number of factors, including disease kind, crop susceptibility, environmental conditions, and management strategies, may influence how diseases impact agricultural productivity. </a:t>
            </a:r>
            <a:endParaRPr lang="en-IN" sz="1800" kern="100" dirty="0">
              <a:solidFill>
                <a:srgbClr val="000000"/>
              </a:solidFill>
              <a:effectLst/>
              <a:latin typeface="Times New Roman" panose="02020603050405020304" pitchFamily="18" charset="0"/>
              <a:ea typeface="Times New Roman" panose="02020603050405020304" pitchFamily="18" charset="0"/>
            </a:endParaRPr>
          </a:p>
          <a:p>
            <a:pPr algn="just">
              <a:buNone/>
            </a:pPr>
            <a:r>
              <a:rPr lang="en-IN" dirty="0">
                <a:solidFill>
                  <a:srgbClr val="000000"/>
                </a:solidFill>
                <a:latin typeface="Times New Roman" panose="02020603050405020304" pitchFamily="18" charset="0"/>
                <a:ea typeface="Times New Roman" panose="02020603050405020304" pitchFamily="18" charset="0"/>
              </a:rPr>
              <a:t>	</a:t>
            </a:r>
            <a:endParaRPr lang="en-IN" sz="1800" dirty="0">
              <a:solidFill>
                <a:srgbClr val="000000"/>
              </a:solidFill>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99D2FCF0-4AB7-5C44-076F-85A93FF35D0D}"/>
              </a:ext>
            </a:extLst>
          </p:cNvPr>
          <p:cNvSpPr>
            <a:spLocks noGrp="1"/>
          </p:cNvSpPr>
          <p:nvPr>
            <p:ph type="sldNum" sz="quarter" idx="12"/>
          </p:nvPr>
        </p:nvSpPr>
        <p:spPr/>
        <p:txBody>
          <a:bodyPr/>
          <a:lstStyle/>
          <a:p>
            <a:fld id="{595F2725-082E-469A-BF5C-09635F99CEA1}" type="slidenum">
              <a:rPr lang="en-IN" smtClean="0"/>
              <a:t>4</a:t>
            </a:fld>
            <a:endParaRPr lang="en-IN"/>
          </a:p>
        </p:txBody>
      </p:sp>
    </p:spTree>
    <p:extLst>
      <p:ext uri="{BB962C8B-B14F-4D97-AF65-F5344CB8AC3E}">
        <p14:creationId xmlns:p14="http://schemas.microsoft.com/office/powerpoint/2010/main" val="2390828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B9B3F7-6341-7D64-D83E-248395CC4FD3}"/>
              </a:ext>
            </a:extLst>
          </p:cNvPr>
          <p:cNvSpPr txBox="1"/>
          <p:nvPr/>
        </p:nvSpPr>
        <p:spPr>
          <a:xfrm>
            <a:off x="154003" y="413911"/>
            <a:ext cx="11518233" cy="6030177"/>
          </a:xfrm>
          <a:prstGeom prst="rect">
            <a:avLst/>
          </a:prstGeom>
          <a:noFill/>
        </p:spPr>
        <p:txBody>
          <a:bodyPr wrap="square">
            <a:spAutoFit/>
          </a:bodyPr>
          <a:lstStyle/>
          <a:p>
            <a:pPr algn="just">
              <a:lnSpc>
                <a:spcPct val="115000"/>
              </a:lnSpc>
              <a:spcBef>
                <a:spcPts val="1000"/>
              </a:spcBef>
              <a:buNone/>
            </a:pPr>
            <a:r>
              <a:rPr lang="en-IN" sz="2800" b="1" dirty="0">
                <a:solidFill>
                  <a:srgbClr val="000000"/>
                </a:solidFill>
                <a:effectLst/>
                <a:latin typeface="Times New Roman" panose="02020603050405020304" pitchFamily="18" charset="0"/>
                <a:ea typeface="Times New Roman" panose="02020603050405020304" pitchFamily="18" charset="0"/>
              </a:rPr>
              <a:t>History of Digital Image Processing </a:t>
            </a:r>
          </a:p>
          <a:p>
            <a:pPr algn="just">
              <a:lnSpc>
                <a:spcPct val="115000"/>
              </a:lnSpc>
              <a:spcBef>
                <a:spcPts val="1000"/>
              </a:spcBef>
              <a:buNone/>
            </a:pPr>
            <a:endParaRPr lang="en-IN" sz="2800" b="1" dirty="0">
              <a:solidFill>
                <a:srgbClr val="000000"/>
              </a:solidFill>
              <a:effectLst/>
              <a:latin typeface="Times New Roman" panose="02020603050405020304" pitchFamily="18" charset="0"/>
              <a:ea typeface="Times New Roman" panose="02020603050405020304" pitchFamily="18" charset="0"/>
            </a:endParaRPr>
          </a:p>
          <a:p>
            <a:pPr algn="just">
              <a:lnSpc>
                <a:spcPct val="115000"/>
              </a:lnSpc>
              <a:spcBef>
                <a:spcPts val="1000"/>
              </a:spcBef>
              <a:buNone/>
            </a:pPr>
            <a:r>
              <a:rPr lang="en-IN" sz="1800" dirty="0">
                <a:solidFill>
                  <a:srgbClr val="000000"/>
                </a:solidFill>
                <a:effectLst/>
                <a:latin typeface="Times New Roman" panose="02020603050405020304" pitchFamily="18" charset="0"/>
                <a:ea typeface="Times New Roman" panose="02020603050405020304" pitchFamily="18" charset="0"/>
              </a:rPr>
              <a:t>	When pictures were initially sent between London and New York via undersea cable, the newspaper business was one of the first to exploit digital image data. The time it took to send an image across the Atlantic dropped from more than a week to less than three hours with the advent of the </a:t>
            </a:r>
            <a:r>
              <a:rPr lang="en-IN" sz="1800" dirty="0" err="1">
                <a:solidFill>
                  <a:srgbClr val="000000"/>
                </a:solidFill>
                <a:effectLst/>
                <a:latin typeface="Times New Roman" panose="02020603050405020304" pitchFamily="18" charset="0"/>
                <a:ea typeface="Times New Roman" panose="02020603050405020304" pitchFamily="18" charset="0"/>
              </a:rPr>
              <a:t>Bartlane</a:t>
            </a:r>
            <a:r>
              <a:rPr lang="en-IN" sz="1800" dirty="0">
                <a:solidFill>
                  <a:srgbClr val="000000"/>
                </a:solidFill>
                <a:effectLst/>
                <a:latin typeface="Times New Roman" panose="02020603050405020304" pitchFamily="18" charset="0"/>
                <a:ea typeface="Times New Roman" panose="02020603050405020304" pitchFamily="18" charset="0"/>
              </a:rPr>
              <a:t> cable picture transmission system in the early 1920s. After being encoded for cable transmission, images were printed with specialised equipment and then reconfigured. </a:t>
            </a:r>
          </a:p>
          <a:p>
            <a:pPr algn="just">
              <a:lnSpc>
                <a:spcPct val="115000"/>
              </a:lnSpc>
              <a:spcBef>
                <a:spcPts val="1000"/>
              </a:spcBef>
              <a:buNone/>
            </a:pPr>
            <a:r>
              <a:rPr lang="en-IN" sz="1800" dirty="0">
                <a:solidFill>
                  <a:srgbClr val="000000"/>
                </a:solidFill>
                <a:effectLst/>
                <a:latin typeface="Times New Roman" panose="02020603050405020304" pitchFamily="18" charset="0"/>
                <a:ea typeface="Times New Roman" panose="02020603050405020304" pitchFamily="18" charset="0"/>
              </a:rPr>
              <a:t>	Some of the early difficulties in improving the visual quality of these early digital images were related to the choice of printmakers and the distribution of intensity levels. In addition, because processing digital images requires so much computing power and storage, progress in the field of digital imaging has depended on the growth of digital computers and related technologies such as data storage, display, and During the 1940s, when the first digital computers were developed, digital imaging get started. </a:t>
            </a:r>
          </a:p>
          <a:p>
            <a:pPr algn="just">
              <a:lnSpc>
                <a:spcPct val="115000"/>
              </a:lnSpc>
              <a:spcBef>
                <a:spcPts val="1000"/>
              </a:spcBef>
              <a:buNone/>
            </a:pPr>
            <a:r>
              <a:rPr lang="en-IN" sz="1800" dirty="0">
                <a:solidFill>
                  <a:srgbClr val="000000"/>
                </a:solidFill>
                <a:effectLst/>
                <a:latin typeface="Times New Roman" panose="02020603050405020304" pitchFamily="18" charset="0"/>
                <a:ea typeface="Times New Roman" panose="02020603050405020304" pitchFamily="18" charset="0"/>
              </a:rPr>
              <a:t>	Some of the early difficulties in improving the visual quality of these early digital images were related to the choice of printmakers and the distribution of intensity levels. In addition, because processing digital images requires so much computing power and storage, progress in the field of digital imaging has depended on the growth of digital computers and related technologies such as data storage, display, and During the 1940s, when the first digital computers were developed, digital imaging get started. </a:t>
            </a:r>
            <a:endParaRPr lang="en-IN" sz="2800" b="1" dirty="0">
              <a:solidFill>
                <a:srgbClr val="4F81BD"/>
              </a:solidFill>
              <a:effectLst/>
              <a:latin typeface="Cambria" panose="02040503050406030204" pitchFamily="18" charset="0"/>
              <a:ea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EA6E91B-B8EC-BF9C-C973-176F2FB097C2}"/>
              </a:ext>
            </a:extLst>
          </p:cNvPr>
          <p:cNvSpPr>
            <a:spLocks noGrp="1"/>
          </p:cNvSpPr>
          <p:nvPr>
            <p:ph type="sldNum" sz="quarter" idx="12"/>
          </p:nvPr>
        </p:nvSpPr>
        <p:spPr/>
        <p:txBody>
          <a:bodyPr/>
          <a:lstStyle/>
          <a:p>
            <a:fld id="{595F2725-082E-469A-BF5C-09635F99CEA1}" type="slidenum">
              <a:rPr lang="en-IN" smtClean="0"/>
              <a:t>5</a:t>
            </a:fld>
            <a:endParaRPr lang="en-IN"/>
          </a:p>
        </p:txBody>
      </p:sp>
    </p:spTree>
    <p:extLst>
      <p:ext uri="{BB962C8B-B14F-4D97-AF65-F5344CB8AC3E}">
        <p14:creationId xmlns:p14="http://schemas.microsoft.com/office/powerpoint/2010/main" val="3087442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3E282F38-BE37-E838-96E5-EE912622AC1C}"/>
              </a:ext>
            </a:extLst>
          </p:cNvPr>
          <p:cNvSpPr>
            <a:spLocks noChangeArrowheads="1"/>
          </p:cNvSpPr>
          <p:nvPr/>
        </p:nvSpPr>
        <p:spPr bwMode="auto">
          <a:xfrm>
            <a:off x="226193" y="464129"/>
            <a:ext cx="11373853" cy="4575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2696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IN" sz="2800" b="1" dirty="0">
                <a:solidFill>
                  <a:srgbClr val="000000"/>
                </a:solidFill>
                <a:effectLst/>
                <a:latin typeface="Times New Roman" panose="02020603050405020304" pitchFamily="18" charset="0"/>
                <a:ea typeface="Times New Roman" panose="02020603050405020304" pitchFamily="18" charset="0"/>
              </a:rPr>
              <a:t>Image processing</a:t>
            </a:r>
          </a:p>
          <a:p>
            <a:pPr marL="0" marR="0" lvl="0" indent="0" algn="just" defTabSz="914400" rtl="0" eaLnBrk="0" fontAlgn="base" latinLnBrk="0" hangingPunct="0">
              <a:lnSpc>
                <a:spcPct val="100000"/>
              </a:lnSpc>
              <a:spcBef>
                <a:spcPct val="0"/>
              </a:spcBef>
              <a:spcAft>
                <a:spcPct val="0"/>
              </a:spcAft>
              <a:buClrTx/>
              <a:buSzTx/>
              <a:buFontTx/>
              <a:buNone/>
              <a:tabLst/>
            </a:pPr>
            <a:endParaRPr lang="en-IN" sz="2800" b="1" dirty="0">
              <a:solidFill>
                <a:srgbClr val="000000"/>
              </a:solidFill>
              <a:effectLst/>
              <a:latin typeface="Times New Roman" panose="02020603050405020304" pitchFamily="18" charset="0"/>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IN" sz="2800" b="1" dirty="0">
                <a:solidFill>
                  <a:srgbClr val="000000"/>
                </a:solidFill>
                <a:effectLst/>
                <a:latin typeface="Times New Roman" panose="02020603050405020304" pitchFamily="18" charset="0"/>
                <a:ea typeface="Times New Roman" panose="02020603050405020304" pitchFamily="18" charset="0"/>
              </a:rPr>
              <a:t> </a:t>
            </a:r>
          </a:p>
          <a:p>
            <a:pPr algn="just" defTabSz="914400" eaLnBrk="0" fontAlgn="base" hangingPunct="0">
              <a:spcBef>
                <a:spcPct val="0"/>
              </a:spcBef>
              <a:spcAft>
                <a:spcPct val="0"/>
              </a:spcAft>
            </a:pPr>
            <a:r>
              <a:rPr lang="en-IN" sz="1800" kern="100" dirty="0">
                <a:solidFill>
                  <a:srgbClr val="000000"/>
                </a:solidFill>
                <a:effectLst/>
                <a:latin typeface="Times New Roman" panose="02020603050405020304" pitchFamily="18" charset="0"/>
                <a:ea typeface="Times New Roman" panose="02020603050405020304" pitchFamily="18" charset="0"/>
              </a:rPr>
              <a:t> 	Digital image processing is the technology of processing digital images using a variety of computer methods. This procedure can produce images or a collection of representative qualities or properties of the source images. Applications for digital image processing are often found in </a:t>
            </a:r>
            <a:r>
              <a:rPr lang="en-IN" sz="1800" kern="100" dirty="0" err="1">
                <a:solidFill>
                  <a:srgbClr val="000000"/>
                </a:solidFill>
                <a:effectLst/>
                <a:latin typeface="Times New Roman" panose="02020603050405020304" pitchFamily="18" charset="0"/>
                <a:ea typeface="Times New Roman" panose="02020603050405020304" pitchFamily="18" charset="0"/>
              </a:rPr>
              <a:t>robotics,intelligent</a:t>
            </a:r>
            <a:r>
              <a:rPr lang="en-IN" sz="1800" kern="100" dirty="0">
                <a:solidFill>
                  <a:srgbClr val="000000"/>
                </a:solidFill>
                <a:effectLst/>
                <a:latin typeface="Times New Roman" panose="02020603050405020304" pitchFamily="18" charset="0"/>
                <a:ea typeface="Times New Roman" panose="02020603050405020304" pitchFamily="18" charset="0"/>
              </a:rPr>
              <a:t> systems, medical imaging, remote sensing, photography, and forensics. DIP is concerned with an image that is made up multiple image points. </a:t>
            </a:r>
          </a:p>
          <a:p>
            <a:pPr algn="just" defTabSz="914400" eaLnBrk="0" fontAlgn="base" hangingPunct="0">
              <a:spcBef>
                <a:spcPct val="0"/>
              </a:spcBef>
              <a:spcAft>
                <a:spcPct val="0"/>
              </a:spcAft>
            </a:pPr>
            <a:endParaRPr lang="en-IN" kern="100" dirty="0">
              <a:solidFill>
                <a:srgbClr val="000000"/>
              </a:solidFill>
              <a:latin typeface="Times New Roman" panose="02020603050405020304" pitchFamily="18" charset="0"/>
              <a:ea typeface="Times New Roman" panose="02020603050405020304" pitchFamily="18" charset="0"/>
            </a:endParaRPr>
          </a:p>
          <a:p>
            <a:pPr algn="just" defTabSz="914400" eaLnBrk="0" fontAlgn="base" hangingPunct="0">
              <a:spcBef>
                <a:spcPct val="0"/>
              </a:spcBef>
              <a:spcAft>
                <a:spcPct val="0"/>
              </a:spcAft>
            </a:pPr>
            <a:endParaRPr lang="en-IN" sz="1800" kern="100" dirty="0">
              <a:solidFill>
                <a:srgbClr val="000000"/>
              </a:solidFill>
              <a:effectLst/>
              <a:latin typeface="Times New Roman" panose="02020603050405020304" pitchFamily="18" charset="0"/>
              <a:ea typeface="Times New Roman" panose="02020603050405020304" pitchFamily="18" charset="0"/>
            </a:endParaRPr>
          </a:p>
          <a:p>
            <a:pPr algn="just" defTabSz="914400" eaLnBrk="0" fontAlgn="base" hangingPunct="0">
              <a:spcBef>
                <a:spcPct val="0"/>
              </a:spcBef>
              <a:spcAft>
                <a:spcPct val="0"/>
              </a:spcAft>
            </a:pPr>
            <a:r>
              <a:rPr lang="en-IN" sz="1800" kern="100" dirty="0">
                <a:solidFill>
                  <a:srgbClr val="000000"/>
                </a:solidFill>
                <a:effectLst/>
                <a:latin typeface="Times New Roman" panose="02020603050405020304" pitchFamily="18" charset="0"/>
                <a:ea typeface="Times New Roman" panose="02020603050405020304" pitchFamily="18" charset="0"/>
              </a:rPr>
              <a:t>These image points, also known as pixels, include spatial coordinates that specify their position in image as well as intensity (or </a:t>
            </a:r>
            <a:r>
              <a:rPr lang="en-IN" sz="1800" kern="100" dirty="0" err="1">
                <a:solidFill>
                  <a:srgbClr val="000000"/>
                </a:solidFill>
                <a:effectLst/>
                <a:latin typeface="Times New Roman" panose="02020603050405020304" pitchFamily="18" charset="0"/>
                <a:ea typeface="Times New Roman" panose="02020603050405020304" pitchFamily="18" charset="0"/>
              </a:rPr>
              <a:t>gray</a:t>
            </a:r>
            <a:r>
              <a:rPr lang="en-IN" sz="1800" kern="100" dirty="0">
                <a:solidFill>
                  <a:srgbClr val="000000"/>
                </a:solidFill>
                <a:effectLst/>
                <a:latin typeface="Times New Roman" panose="02020603050405020304" pitchFamily="18" charset="0"/>
                <a:ea typeface="Times New Roman" panose="02020603050405020304" pitchFamily="18" charset="0"/>
              </a:rPr>
              <a:t> level) values. A colourful image contains more dimensional information than a </a:t>
            </a:r>
            <a:r>
              <a:rPr lang="en-IN" sz="1800" kern="100" dirty="0" err="1">
                <a:solidFill>
                  <a:srgbClr val="000000"/>
                </a:solidFill>
                <a:effectLst/>
                <a:latin typeface="Times New Roman" panose="02020603050405020304" pitchFamily="18" charset="0"/>
                <a:ea typeface="Times New Roman" panose="02020603050405020304" pitchFamily="18" charset="0"/>
              </a:rPr>
              <a:t>gray</a:t>
            </a:r>
            <a:r>
              <a:rPr lang="en-IN" sz="1800" kern="100" dirty="0">
                <a:solidFill>
                  <a:srgbClr val="000000"/>
                </a:solidFill>
                <a:effectLst/>
                <a:latin typeface="Times New Roman" panose="02020603050405020304" pitchFamily="18" charset="0"/>
                <a:ea typeface="Times New Roman" panose="02020603050405020304" pitchFamily="18" charset="0"/>
              </a:rPr>
              <a:t> image because red, green, and blue values are generally used in diverse combinations to reproduce the image's hues in real life.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4000" b="1" i="0" u="none" strike="noStrike" cap="none" normalizeH="0" baseline="0" dirty="0">
              <a:ln>
                <a:noFill/>
              </a:ln>
              <a:effectLst/>
              <a:latin typeface="Baskerville Old Face" panose="02020602080505020303" pitchFamily="18" charset="0"/>
              <a:ea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B236554C-9B4A-026A-E639-A58DAE13FA22}"/>
              </a:ext>
            </a:extLst>
          </p:cNvPr>
          <p:cNvSpPr>
            <a:spLocks noGrp="1"/>
          </p:cNvSpPr>
          <p:nvPr>
            <p:ph type="sldNum" sz="quarter" idx="12"/>
          </p:nvPr>
        </p:nvSpPr>
        <p:spPr/>
        <p:txBody>
          <a:bodyPr/>
          <a:lstStyle/>
          <a:p>
            <a:fld id="{595F2725-082E-469A-BF5C-09635F99CEA1}" type="slidenum">
              <a:rPr lang="en-IN" smtClean="0"/>
              <a:t>6</a:t>
            </a:fld>
            <a:endParaRPr lang="en-IN"/>
          </a:p>
        </p:txBody>
      </p:sp>
    </p:spTree>
    <p:extLst>
      <p:ext uri="{BB962C8B-B14F-4D97-AF65-F5344CB8AC3E}">
        <p14:creationId xmlns:p14="http://schemas.microsoft.com/office/powerpoint/2010/main" val="910124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BE82E53-00BE-D17F-3AC2-5265285EE57D}"/>
              </a:ext>
            </a:extLst>
          </p:cNvPr>
          <p:cNvSpPr>
            <a:spLocks noGrp="1"/>
          </p:cNvSpPr>
          <p:nvPr>
            <p:ph type="sldNum" sz="quarter" idx="12"/>
          </p:nvPr>
        </p:nvSpPr>
        <p:spPr/>
        <p:txBody>
          <a:bodyPr/>
          <a:lstStyle/>
          <a:p>
            <a:fld id="{595F2725-082E-469A-BF5C-09635F99CEA1}" type="slidenum">
              <a:rPr lang="en-IN" smtClean="0"/>
              <a:t>7</a:t>
            </a:fld>
            <a:endParaRPr lang="en-IN"/>
          </a:p>
        </p:txBody>
      </p:sp>
      <p:sp>
        <p:nvSpPr>
          <p:cNvPr id="6" name="TextBox 5">
            <a:extLst>
              <a:ext uri="{FF2B5EF4-FFF2-40B4-BE49-F238E27FC236}">
                <a16:creationId xmlns:a16="http://schemas.microsoft.com/office/drawing/2014/main" id="{67D45C6E-5076-A661-69D0-48C4B4F254A6}"/>
              </a:ext>
            </a:extLst>
          </p:cNvPr>
          <p:cNvSpPr txBox="1"/>
          <p:nvPr/>
        </p:nvSpPr>
        <p:spPr>
          <a:xfrm>
            <a:off x="350520" y="485894"/>
            <a:ext cx="7010400" cy="523220"/>
          </a:xfrm>
          <a:prstGeom prst="rect">
            <a:avLst/>
          </a:prstGeom>
          <a:noFill/>
        </p:spPr>
        <p:txBody>
          <a:bodyPr wrap="square" rtlCol="0">
            <a:spAutoFit/>
          </a:bodyPr>
          <a:lstStyle/>
          <a:p>
            <a:r>
              <a:rPr lang="en-IN" sz="2800" b="1" dirty="0">
                <a:solidFill>
                  <a:srgbClr val="000000"/>
                </a:solidFill>
                <a:effectLst/>
                <a:latin typeface="Times New Roman" panose="02020603050405020304" pitchFamily="18" charset="0"/>
                <a:ea typeface="Times New Roman" panose="02020603050405020304" pitchFamily="18" charset="0"/>
              </a:rPr>
              <a:t>Fundamentals steps in DIP system </a:t>
            </a:r>
            <a:endParaRPr lang="en-IN" sz="2800" b="1" dirty="0"/>
          </a:p>
        </p:txBody>
      </p:sp>
      <p:sp>
        <p:nvSpPr>
          <p:cNvPr id="7" name="TextBox 6">
            <a:extLst>
              <a:ext uri="{FF2B5EF4-FFF2-40B4-BE49-F238E27FC236}">
                <a16:creationId xmlns:a16="http://schemas.microsoft.com/office/drawing/2014/main" id="{523F1D81-13CC-D674-2B0E-43344A3BF0D6}"/>
              </a:ext>
            </a:extLst>
          </p:cNvPr>
          <p:cNvSpPr txBox="1"/>
          <p:nvPr/>
        </p:nvSpPr>
        <p:spPr>
          <a:xfrm>
            <a:off x="457200" y="1341120"/>
            <a:ext cx="11003280" cy="4570867"/>
          </a:xfrm>
          <a:prstGeom prst="rect">
            <a:avLst/>
          </a:prstGeom>
          <a:noFill/>
        </p:spPr>
        <p:txBody>
          <a:bodyPr wrap="square" rtlCol="0">
            <a:spAutoFit/>
          </a:bodyPr>
          <a:lstStyle/>
          <a:p>
            <a:pPr marL="342900" marR="3175" lvl="0" indent="-342900" algn="just" fontAlgn="base">
              <a:lnSpc>
                <a:spcPct val="107000"/>
              </a:lnSpc>
              <a:spcAft>
                <a:spcPts val="575"/>
              </a:spcAft>
              <a:buClr>
                <a:srgbClr val="000000"/>
              </a:buClr>
              <a:buSzPts val="1200"/>
              <a:buFont typeface="Arial" panose="020B0604020202020204" pitchFamily="34" charset="0"/>
              <a:buChar char="•"/>
            </a:pP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Image acquisition- It could be as simple as already receiving a digital image. </a:t>
            </a:r>
          </a:p>
          <a:p>
            <a:pPr marL="342900" marR="3175" lvl="0" indent="-342900" algn="just" fontAlgn="base">
              <a:lnSpc>
                <a:spcPct val="150000"/>
              </a:lnSpc>
              <a:spcAft>
                <a:spcPts val="25"/>
              </a:spcAft>
              <a:buClr>
                <a:srgbClr val="000000"/>
              </a:buClr>
              <a:buSzPts val="1200"/>
              <a:buFont typeface="Arial" panose="020B0604020202020204" pitchFamily="34" charset="0"/>
              <a:buChar char="•"/>
            </a:pP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Image enhancement - It is among the simplest and most interesting features of enhancing digital images. The idea is to bring out obscured details in the image, or simply highlight specific features of interest. Image enhancement is a very personal aspect of image processing. </a:t>
            </a:r>
          </a:p>
          <a:p>
            <a:pPr marL="342900" marR="3175" lvl="0" indent="-342900" algn="just" fontAlgn="base">
              <a:lnSpc>
                <a:spcPct val="150000"/>
              </a:lnSpc>
              <a:spcAft>
                <a:spcPts val="25"/>
              </a:spcAft>
              <a:buClr>
                <a:srgbClr val="000000"/>
              </a:buClr>
              <a:buSzPts val="1200"/>
              <a:buFont typeface="Arial" panose="020B0604020202020204" pitchFamily="34" charset="0"/>
              <a:buChar char="•"/>
            </a:pP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Image restoration- Enhancing the image look is the aim. This is an objective approach in that image restoration techniques typically rely on mathematical or probabilistic image processing models. In contrast, enhancement is based on humans' subjective preferences for what constitutes a “good” enhancement outcome. </a:t>
            </a:r>
          </a:p>
          <a:p>
            <a:pPr marL="342900" marR="3175" lvl="0" indent="-342900" algn="just" fontAlgn="base">
              <a:lnSpc>
                <a:spcPct val="150000"/>
              </a:lnSpc>
              <a:spcAft>
                <a:spcPts val="25"/>
              </a:spcAft>
              <a:buClr>
                <a:srgbClr val="000000"/>
              </a:buClr>
              <a:buSzPts val="1200"/>
              <a:buFont typeface="Arial" panose="020B0604020202020204" pitchFamily="34" charset="0"/>
              <a:buChar char="•"/>
            </a:pP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Colour image processing- This is a growing field due to the widespread use of digital images on the Internet. Colour image processing is primarily concerned with colour models and their implementation in image processing applications. </a:t>
            </a:r>
          </a:p>
          <a:p>
            <a:pPr marL="342900" marR="3175" lvl="0" indent="-342900" algn="just" fontAlgn="base">
              <a:lnSpc>
                <a:spcPct val="150000"/>
              </a:lnSpc>
              <a:spcAft>
                <a:spcPts val="25"/>
              </a:spcAft>
              <a:buClr>
                <a:srgbClr val="000000"/>
              </a:buClr>
              <a:buSzPts val="1200"/>
              <a:buFont typeface="Arial" panose="020B0604020202020204" pitchFamily="34" charset="0"/>
              <a:buChar char="•"/>
            </a:pPr>
            <a:endPar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8369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93E1D05-FEBC-1037-B8C0-4976FB602293}"/>
              </a:ext>
            </a:extLst>
          </p:cNvPr>
          <p:cNvGraphicFramePr>
            <a:graphicFrameLocks noGrp="1"/>
          </p:cNvGraphicFramePr>
          <p:nvPr>
            <p:extLst>
              <p:ext uri="{D42A27DB-BD31-4B8C-83A1-F6EECF244321}">
                <p14:modId xmlns:p14="http://schemas.microsoft.com/office/powerpoint/2010/main" val="2978837261"/>
              </p:ext>
            </p:extLst>
          </p:nvPr>
        </p:nvGraphicFramePr>
        <p:xfrm>
          <a:off x="240631" y="256674"/>
          <a:ext cx="6272464" cy="944880"/>
        </p:xfrm>
        <a:graphic>
          <a:graphicData uri="http://schemas.openxmlformats.org/drawingml/2006/table">
            <a:tbl>
              <a:tblPr/>
              <a:tblGrid>
                <a:gridCol w="6272464">
                  <a:extLst>
                    <a:ext uri="{9D8B030D-6E8A-4147-A177-3AD203B41FA5}">
                      <a16:colId xmlns:a16="http://schemas.microsoft.com/office/drawing/2014/main" val="2844091243"/>
                    </a:ext>
                  </a:extLst>
                </a:gridCol>
              </a:tblGrid>
              <a:tr h="76768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2800" b="1" kern="1200" dirty="0">
                          <a:solidFill>
                            <a:schemeClr val="tx1"/>
                          </a:solidFill>
                          <a:effectLst/>
                          <a:latin typeface="Times New Roman" panose="02020603050405020304" pitchFamily="18" charset="0"/>
                          <a:ea typeface="+mn-ea"/>
                          <a:cs typeface="Times New Roman" panose="02020603050405020304" pitchFamily="18" charset="0"/>
                        </a:rPr>
                        <a:t>Methods of Disease Detection</a:t>
                      </a:r>
                      <a:r>
                        <a:rPr lang="en-IN" sz="2800" b="1" kern="1200" dirty="0">
                          <a:solidFill>
                            <a:schemeClr val="tx1"/>
                          </a:solidFill>
                          <a:effectLst/>
                          <a:latin typeface="+mn-lt"/>
                          <a:ea typeface="+mn-ea"/>
                          <a:cs typeface="+mn-cs"/>
                        </a:rPr>
                        <a:t> </a:t>
                      </a:r>
                    </a:p>
                    <a:p>
                      <a:endParaRPr lang="en-IN" sz="2800" dirty="0">
                        <a:latin typeface="Baskerville Old Face" panose="02020602080505020303"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95750773"/>
                  </a:ext>
                </a:extLst>
              </a:tr>
            </a:tbl>
          </a:graphicData>
        </a:graphic>
      </p:graphicFrame>
      <p:sp>
        <p:nvSpPr>
          <p:cNvPr id="4" name="Slide Number Placeholder 3">
            <a:extLst>
              <a:ext uri="{FF2B5EF4-FFF2-40B4-BE49-F238E27FC236}">
                <a16:creationId xmlns:a16="http://schemas.microsoft.com/office/drawing/2014/main" id="{9D5E9B52-C76F-5E45-BB5F-FAE785BE2D55}"/>
              </a:ext>
            </a:extLst>
          </p:cNvPr>
          <p:cNvSpPr>
            <a:spLocks noGrp="1"/>
          </p:cNvSpPr>
          <p:nvPr>
            <p:ph type="sldNum" sz="quarter" idx="12"/>
          </p:nvPr>
        </p:nvSpPr>
        <p:spPr/>
        <p:txBody>
          <a:bodyPr/>
          <a:lstStyle/>
          <a:p>
            <a:fld id="{595F2725-082E-469A-BF5C-09635F99CEA1}" type="slidenum">
              <a:rPr lang="en-IN" smtClean="0"/>
              <a:t>8</a:t>
            </a:fld>
            <a:endParaRPr lang="en-IN"/>
          </a:p>
        </p:txBody>
      </p:sp>
      <p:sp>
        <p:nvSpPr>
          <p:cNvPr id="5" name="TextBox 4">
            <a:extLst>
              <a:ext uri="{FF2B5EF4-FFF2-40B4-BE49-F238E27FC236}">
                <a16:creationId xmlns:a16="http://schemas.microsoft.com/office/drawing/2014/main" id="{2E63DC6C-340B-C085-27D6-B63FDC9ADC4F}"/>
              </a:ext>
            </a:extLst>
          </p:cNvPr>
          <p:cNvSpPr txBox="1"/>
          <p:nvPr/>
        </p:nvSpPr>
        <p:spPr>
          <a:xfrm>
            <a:off x="240631" y="1491916"/>
            <a:ext cx="11341769" cy="2120068"/>
          </a:xfrm>
          <a:prstGeom prst="rect">
            <a:avLst/>
          </a:prstGeom>
          <a:noFill/>
        </p:spPr>
        <p:txBody>
          <a:bodyPr wrap="square" rtlCol="0">
            <a:spAutoFit/>
          </a:bodyPr>
          <a:lstStyle/>
          <a:p>
            <a:pPr marL="615950" marR="87630" indent="-6350" algn="just">
              <a:lnSpc>
                <a:spcPct val="150000"/>
              </a:lnSpc>
              <a:spcAft>
                <a:spcPts val="25"/>
              </a:spcAft>
            </a:pPr>
            <a:r>
              <a:rPr lang="en-IN" sz="1800" kern="100" dirty="0">
                <a:solidFill>
                  <a:srgbClr val="000000"/>
                </a:solidFill>
                <a:effectLst/>
                <a:latin typeface="Times New Roman" panose="02020603050405020304" pitchFamily="18" charset="0"/>
                <a:ea typeface="Times New Roman" panose="02020603050405020304" pitchFamily="18" charset="0"/>
              </a:rPr>
              <a:t>			The plant disease detection system procedure mainly consists of four phases. Images are acquired during the first phase using a digital camera, a mobile device, or the internet. The image is divided into varying numbers of clusters in the second phase, each of which can be treated using a different technique. The methods for feature extraction are covered in the following phase, and disease classification is covered in the final step. </a:t>
            </a:r>
          </a:p>
          <a:p>
            <a:pPr marL="615950" marR="87630" indent="-6350" algn="just">
              <a:lnSpc>
                <a:spcPct val="150000"/>
              </a:lnSpc>
              <a:spcAft>
                <a:spcPts val="25"/>
              </a:spcAft>
            </a:pPr>
            <a:endParaRPr lang="en-IN" sz="1800" kern="100" dirty="0">
              <a:solidFill>
                <a:srgbClr val="000000"/>
              </a:solidFill>
              <a:effectLst/>
              <a:latin typeface="Times New Roman" panose="02020603050405020304" pitchFamily="18" charset="0"/>
              <a:ea typeface="Times New Roman" panose="02020603050405020304" pitchFamily="18" charset="0"/>
            </a:endParaRPr>
          </a:p>
        </p:txBody>
      </p:sp>
      <p:pic>
        <p:nvPicPr>
          <p:cNvPr id="6" name="Picture 5">
            <a:extLst>
              <a:ext uri="{FF2B5EF4-FFF2-40B4-BE49-F238E27FC236}">
                <a16:creationId xmlns:a16="http://schemas.microsoft.com/office/drawing/2014/main" id="{E1B74837-89BB-1EEE-8F42-4B147EF9230F}"/>
              </a:ext>
            </a:extLst>
          </p:cNvPr>
          <p:cNvPicPr/>
          <p:nvPr/>
        </p:nvPicPr>
        <p:blipFill>
          <a:blip r:embed="rId2"/>
          <a:stretch>
            <a:fillRect/>
          </a:stretch>
        </p:blipFill>
        <p:spPr>
          <a:xfrm>
            <a:off x="4380865" y="3138638"/>
            <a:ext cx="3430270" cy="2926731"/>
          </a:xfrm>
          <a:prstGeom prst="rect">
            <a:avLst/>
          </a:prstGeom>
        </p:spPr>
      </p:pic>
      <p:sp>
        <p:nvSpPr>
          <p:cNvPr id="7" name="TextBox 6">
            <a:extLst>
              <a:ext uri="{FF2B5EF4-FFF2-40B4-BE49-F238E27FC236}">
                <a16:creationId xmlns:a16="http://schemas.microsoft.com/office/drawing/2014/main" id="{D96A1A0D-8D54-2E50-6EA3-E20B71802327}"/>
              </a:ext>
            </a:extLst>
          </p:cNvPr>
          <p:cNvSpPr txBox="1"/>
          <p:nvPr/>
        </p:nvSpPr>
        <p:spPr>
          <a:xfrm>
            <a:off x="4146884" y="5970570"/>
            <a:ext cx="5494421" cy="369332"/>
          </a:xfrm>
          <a:prstGeom prst="rect">
            <a:avLst/>
          </a:prstGeom>
          <a:noFill/>
        </p:spPr>
        <p:txBody>
          <a:bodyPr wrap="square" rtlCol="0">
            <a:spAutoFit/>
          </a:bodyPr>
          <a:lstStyle/>
          <a:p>
            <a:r>
              <a:rPr lang="en-IN" sz="1800" dirty="0">
                <a:solidFill>
                  <a:srgbClr val="000000"/>
                </a:solidFill>
                <a:effectLst/>
                <a:latin typeface="Times New Roman" panose="02020603050405020304" pitchFamily="18" charset="0"/>
                <a:ea typeface="Times New Roman" panose="02020603050405020304" pitchFamily="18" charset="0"/>
              </a:rPr>
              <a:t>Phases of plant disease detection system </a:t>
            </a:r>
            <a:endParaRPr lang="en-IN" dirty="0"/>
          </a:p>
        </p:txBody>
      </p:sp>
    </p:spTree>
    <p:extLst>
      <p:ext uri="{BB962C8B-B14F-4D97-AF65-F5344CB8AC3E}">
        <p14:creationId xmlns:p14="http://schemas.microsoft.com/office/powerpoint/2010/main" val="1811788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F5570C-B0E6-E6F0-AFC0-98318B296172}"/>
              </a:ext>
            </a:extLst>
          </p:cNvPr>
          <p:cNvSpPr txBox="1"/>
          <p:nvPr/>
        </p:nvSpPr>
        <p:spPr>
          <a:xfrm>
            <a:off x="385012" y="848806"/>
            <a:ext cx="11662610" cy="5054076"/>
          </a:xfrm>
          <a:prstGeom prst="rect">
            <a:avLst/>
          </a:prstGeom>
          <a:noFill/>
        </p:spPr>
        <p:txBody>
          <a:bodyPr wrap="square">
            <a:spAutoFit/>
          </a:bodyPr>
          <a:lstStyle/>
          <a:p>
            <a:pPr marL="300355" indent="-5080">
              <a:lnSpc>
                <a:spcPct val="107000"/>
              </a:lnSpc>
              <a:spcAft>
                <a:spcPts val="15"/>
              </a:spcAft>
              <a:buNone/>
            </a:pPr>
            <a:r>
              <a:rPr lang="en-IN" sz="1800" b="1" kern="100" dirty="0">
                <a:solidFill>
                  <a:srgbClr val="000000"/>
                </a:solidFill>
                <a:effectLst/>
                <a:latin typeface="Times New Roman" panose="02020603050405020304" pitchFamily="18" charset="0"/>
                <a:ea typeface="Times New Roman" panose="02020603050405020304" pitchFamily="18" charset="0"/>
              </a:rPr>
              <a:t>   </a:t>
            </a:r>
            <a:r>
              <a:rPr lang="en-IN" sz="2800" b="1" kern="100" dirty="0">
                <a:solidFill>
                  <a:srgbClr val="000000"/>
                </a:solidFill>
                <a:effectLst/>
                <a:latin typeface="Times New Roman" panose="02020603050405020304" pitchFamily="18" charset="0"/>
                <a:ea typeface="Times New Roman" panose="02020603050405020304" pitchFamily="18" charset="0"/>
              </a:rPr>
              <a:t>Convolutional Neural Network </a:t>
            </a:r>
            <a:endParaRPr lang="en-IN" sz="1800" b="1" kern="100" dirty="0">
              <a:solidFill>
                <a:srgbClr val="000000"/>
              </a:solidFill>
              <a:effectLst/>
              <a:latin typeface="Times New Roman" panose="02020603050405020304" pitchFamily="18" charset="0"/>
              <a:ea typeface="Times New Roman" panose="02020603050405020304" pitchFamily="18" charset="0"/>
            </a:endParaRPr>
          </a:p>
          <a:p>
            <a:pPr marL="304800" marR="3175" indent="-6350" algn="l">
              <a:lnSpc>
                <a:spcPct val="107000"/>
              </a:lnSpc>
              <a:spcAft>
                <a:spcPts val="25"/>
              </a:spcAft>
              <a:buNone/>
            </a:pPr>
            <a:r>
              <a:rPr lang="en-IN" sz="1800" kern="100" dirty="0">
                <a:solidFill>
                  <a:srgbClr val="000000"/>
                </a:solidFill>
                <a:effectLst/>
                <a:latin typeface="Times New Roman" panose="02020603050405020304" pitchFamily="18" charset="0"/>
                <a:ea typeface="Times New Roman" panose="02020603050405020304" pitchFamily="18" charset="0"/>
              </a:rPr>
              <a:t> </a:t>
            </a:r>
          </a:p>
          <a:p>
            <a:pPr marL="301625" marR="91440" indent="-6350" algn="just">
              <a:lnSpc>
                <a:spcPct val="150000"/>
              </a:lnSpc>
              <a:spcAft>
                <a:spcPts val="25"/>
              </a:spcAft>
              <a:buNone/>
            </a:pPr>
            <a:r>
              <a:rPr lang="en-IN" sz="1800" kern="100" dirty="0">
                <a:solidFill>
                  <a:srgbClr val="000000"/>
                </a:solidFill>
                <a:effectLst/>
                <a:latin typeface="Times New Roman" panose="02020603050405020304" pitchFamily="18" charset="0"/>
                <a:ea typeface="Times New Roman" panose="02020603050405020304" pitchFamily="18" charset="0"/>
              </a:rPr>
              <a:t> 				Machine learning includes convolutional neural networks, also known as convnets. It is a subset of the several artificial neural network models that are employed for diverse purposes and data sets. A CNN is a particular type of network design for deep learning algorithms that is utilized for tasks like image recognition and pixel data </a:t>
            </a:r>
            <a:r>
              <a:rPr lang="en-IN" sz="1800" kern="100" dirty="0" err="1">
                <a:solidFill>
                  <a:srgbClr val="000000"/>
                </a:solidFill>
                <a:effectLst/>
                <a:latin typeface="Times New Roman" panose="02020603050405020304" pitchFamily="18" charset="0"/>
                <a:ea typeface="Times New Roman" panose="02020603050405020304" pitchFamily="18" charset="0"/>
              </a:rPr>
              <a:t>processing.Three</a:t>
            </a:r>
            <a:r>
              <a:rPr lang="en-IN" sz="1800" kern="100" dirty="0">
                <a:solidFill>
                  <a:srgbClr val="000000"/>
                </a:solidFill>
                <a:effectLst/>
                <a:latin typeface="Times New Roman" panose="02020603050405020304" pitchFamily="18" charset="0"/>
                <a:ea typeface="Times New Roman" panose="02020603050405020304" pitchFamily="18" charset="0"/>
              </a:rPr>
              <a:t> layers make up a convolutional neural network: the convolutional layer, the pooling layer, and the fully connected layer .Using a filter, the convolutional layer scans the images one or more pixels at a time to create an activation map. The convolutional layer's data is stored more effectively by the pooling layer by reducing the amount of data it generates. Fully linked input layer. In order to predict the correct label, the first fully connected layer applies weights to the feature analysis inputs. In the end, the fully connected output layer provides the probability for each label. </a:t>
            </a:r>
          </a:p>
          <a:p>
            <a:pPr marL="304800" marR="3175" indent="-6350" algn="l">
              <a:lnSpc>
                <a:spcPct val="107000"/>
              </a:lnSpc>
              <a:spcAft>
                <a:spcPts val="25"/>
              </a:spcAft>
            </a:pPr>
            <a:r>
              <a:rPr lang="en-IN" sz="1800" kern="100" dirty="0">
                <a:solidFill>
                  <a:srgbClr val="000000"/>
                </a:solidFill>
                <a:effectLst/>
                <a:latin typeface="Times New Roman" panose="02020603050405020304" pitchFamily="18" charset="0"/>
                <a:ea typeface="Times New Roman" panose="02020603050405020304" pitchFamily="18" charset="0"/>
              </a:rPr>
              <a:t> </a:t>
            </a:r>
          </a:p>
          <a:p>
            <a:pPr algn="just">
              <a:lnSpc>
                <a:spcPct val="115000"/>
              </a:lnSpc>
              <a:spcBef>
                <a:spcPts val="1000"/>
              </a:spcBef>
              <a:buNone/>
            </a:pPr>
            <a:endParaRPr lang="en-IN" sz="2800" dirty="0">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DAEF800E-7C81-1505-1767-FF39B74D7E56}"/>
              </a:ext>
            </a:extLst>
          </p:cNvPr>
          <p:cNvSpPr>
            <a:spLocks noGrp="1"/>
          </p:cNvSpPr>
          <p:nvPr>
            <p:ph type="sldNum" sz="quarter" idx="12"/>
          </p:nvPr>
        </p:nvSpPr>
        <p:spPr/>
        <p:txBody>
          <a:bodyPr/>
          <a:lstStyle/>
          <a:p>
            <a:fld id="{595F2725-082E-469A-BF5C-09635F99CEA1}" type="slidenum">
              <a:rPr lang="en-IN" smtClean="0"/>
              <a:t>9</a:t>
            </a:fld>
            <a:endParaRPr lang="en-IN"/>
          </a:p>
        </p:txBody>
      </p:sp>
    </p:spTree>
    <p:extLst>
      <p:ext uri="{BB962C8B-B14F-4D97-AF65-F5344CB8AC3E}">
        <p14:creationId xmlns:p14="http://schemas.microsoft.com/office/powerpoint/2010/main" val="2547153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8737AC6B-7630-FBBD-41F1-7C1195DAF91B}"/>
              </a:ext>
            </a:extLst>
          </p:cNvPr>
          <p:cNvSpPr>
            <a:spLocks noGrp="1"/>
          </p:cNvSpPr>
          <p:nvPr>
            <p:ph type="sldNum" sz="quarter" idx="12"/>
          </p:nvPr>
        </p:nvSpPr>
        <p:spPr/>
        <p:txBody>
          <a:bodyPr/>
          <a:lstStyle/>
          <a:p>
            <a:fld id="{595F2725-082E-469A-BF5C-09635F99CEA1}" type="slidenum">
              <a:rPr lang="en-IN" smtClean="0"/>
              <a:t>10</a:t>
            </a:fld>
            <a:endParaRPr lang="en-IN"/>
          </a:p>
        </p:txBody>
      </p:sp>
      <p:grpSp>
        <p:nvGrpSpPr>
          <p:cNvPr id="2" name="Group 1">
            <a:extLst>
              <a:ext uri="{FF2B5EF4-FFF2-40B4-BE49-F238E27FC236}">
                <a16:creationId xmlns:a16="http://schemas.microsoft.com/office/drawing/2014/main" id="{5CB6D4AE-C4C9-3479-AC7F-1C99480CCCA1}"/>
              </a:ext>
            </a:extLst>
          </p:cNvPr>
          <p:cNvGrpSpPr/>
          <p:nvPr/>
        </p:nvGrpSpPr>
        <p:grpSpPr>
          <a:xfrm>
            <a:off x="592758" y="1332186"/>
            <a:ext cx="8479622" cy="5566611"/>
            <a:chOff x="0" y="0"/>
            <a:chExt cx="5780227" cy="3200244"/>
          </a:xfrm>
        </p:grpSpPr>
        <p:pic>
          <p:nvPicPr>
            <p:cNvPr id="4" name="Picture 3">
              <a:extLst>
                <a:ext uri="{FF2B5EF4-FFF2-40B4-BE49-F238E27FC236}">
                  <a16:creationId xmlns:a16="http://schemas.microsoft.com/office/drawing/2014/main" id="{100BECA1-4D38-7577-B2BB-C9DE7CA29400}"/>
                </a:ext>
              </a:extLst>
            </p:cNvPr>
            <p:cNvPicPr/>
            <p:nvPr/>
          </p:nvPicPr>
          <p:blipFill>
            <a:blip r:embed="rId2"/>
            <a:stretch>
              <a:fillRect/>
            </a:stretch>
          </p:blipFill>
          <p:spPr>
            <a:xfrm>
              <a:off x="476707" y="4572"/>
              <a:ext cx="5298948" cy="3043428"/>
            </a:xfrm>
            <a:prstGeom prst="rect">
              <a:avLst/>
            </a:prstGeom>
          </p:spPr>
        </p:pic>
        <p:sp>
          <p:nvSpPr>
            <p:cNvPr id="5" name="Shape 1890">
              <a:extLst>
                <a:ext uri="{FF2B5EF4-FFF2-40B4-BE49-F238E27FC236}">
                  <a16:creationId xmlns:a16="http://schemas.microsoft.com/office/drawing/2014/main" id="{AEB5CC5F-C73E-BA36-EB2D-DC4A061CD6C6}"/>
                </a:ext>
              </a:extLst>
            </p:cNvPr>
            <p:cNvSpPr/>
            <p:nvPr/>
          </p:nvSpPr>
          <p:spPr>
            <a:xfrm>
              <a:off x="472135" y="0"/>
              <a:ext cx="5308092" cy="3052572"/>
            </a:xfrm>
            <a:custGeom>
              <a:avLst/>
              <a:gdLst/>
              <a:ahLst/>
              <a:cxnLst/>
              <a:rect l="0" t="0" r="0" b="0"/>
              <a:pathLst>
                <a:path w="5308092" h="3052572">
                  <a:moveTo>
                    <a:pt x="0" y="3052572"/>
                  </a:moveTo>
                  <a:lnTo>
                    <a:pt x="5308092" y="3052572"/>
                  </a:lnTo>
                  <a:lnTo>
                    <a:pt x="5308092" y="0"/>
                  </a:lnTo>
                  <a:lnTo>
                    <a:pt x="0" y="0"/>
                  </a:lnTo>
                  <a:close/>
                </a:path>
              </a:pathLst>
            </a:custGeom>
            <a:ln w="9144" cap="flat">
              <a:round/>
            </a:ln>
          </p:spPr>
          <p:style>
            <a:lnRef idx="1">
              <a:srgbClr val="1F4E79"/>
            </a:lnRef>
            <a:fillRef idx="0">
              <a:srgbClr val="000000">
                <a:alpha val="0"/>
              </a:srgbClr>
            </a:fillRef>
            <a:effectRef idx="0">
              <a:scrgbClr r="0" g="0" b="0"/>
            </a:effectRef>
            <a:fontRef idx="none"/>
          </p:style>
          <p:txBody>
            <a:bodyPr/>
            <a:lstStyle/>
            <a:p>
              <a:endParaRPr lang="en-IN"/>
            </a:p>
          </p:txBody>
        </p:sp>
        <p:sp>
          <p:nvSpPr>
            <p:cNvPr id="6" name="Rectangle 5">
              <a:extLst>
                <a:ext uri="{FF2B5EF4-FFF2-40B4-BE49-F238E27FC236}">
                  <a16:creationId xmlns:a16="http://schemas.microsoft.com/office/drawing/2014/main" id="{854B0C89-F94D-6B94-0F4E-AAEB31429365}"/>
                </a:ext>
              </a:extLst>
            </p:cNvPr>
            <p:cNvSpPr/>
            <p:nvPr/>
          </p:nvSpPr>
          <p:spPr>
            <a:xfrm>
              <a:off x="0" y="326179"/>
              <a:ext cx="46619" cy="206429"/>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8" name="Rectangle 7">
              <a:extLst>
                <a:ext uri="{FF2B5EF4-FFF2-40B4-BE49-F238E27FC236}">
                  <a16:creationId xmlns:a16="http://schemas.microsoft.com/office/drawing/2014/main" id="{02C6F0D6-FA40-1B33-6ADB-7FB9B6BA454F}"/>
                </a:ext>
              </a:extLst>
            </p:cNvPr>
            <p:cNvSpPr/>
            <p:nvPr/>
          </p:nvSpPr>
          <p:spPr>
            <a:xfrm>
              <a:off x="0" y="452924"/>
              <a:ext cx="46619" cy="206430"/>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10" name="Rectangle 9">
              <a:extLst>
                <a:ext uri="{FF2B5EF4-FFF2-40B4-BE49-F238E27FC236}">
                  <a16:creationId xmlns:a16="http://schemas.microsoft.com/office/drawing/2014/main" id="{1E1C52AA-AC43-DB54-81B5-E2958B062BD0}"/>
                </a:ext>
              </a:extLst>
            </p:cNvPr>
            <p:cNvSpPr/>
            <p:nvPr/>
          </p:nvSpPr>
          <p:spPr>
            <a:xfrm>
              <a:off x="0" y="580940"/>
              <a:ext cx="46619" cy="206430"/>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13" name="Rectangle 12">
              <a:extLst>
                <a:ext uri="{FF2B5EF4-FFF2-40B4-BE49-F238E27FC236}">
                  <a16:creationId xmlns:a16="http://schemas.microsoft.com/office/drawing/2014/main" id="{C714B5C9-F1A4-C14F-4883-AB3DC7095E16}"/>
                </a:ext>
              </a:extLst>
            </p:cNvPr>
            <p:cNvSpPr/>
            <p:nvPr/>
          </p:nvSpPr>
          <p:spPr>
            <a:xfrm>
              <a:off x="0" y="707433"/>
              <a:ext cx="46619" cy="206429"/>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14" name="Rectangle 13">
              <a:extLst>
                <a:ext uri="{FF2B5EF4-FFF2-40B4-BE49-F238E27FC236}">
                  <a16:creationId xmlns:a16="http://schemas.microsoft.com/office/drawing/2014/main" id="{4EDB8587-99C0-610C-3C68-46CBFD7C1716}"/>
                </a:ext>
              </a:extLst>
            </p:cNvPr>
            <p:cNvSpPr/>
            <p:nvPr/>
          </p:nvSpPr>
          <p:spPr>
            <a:xfrm>
              <a:off x="0" y="833924"/>
              <a:ext cx="46619" cy="206430"/>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15" name="Rectangle 14">
              <a:extLst>
                <a:ext uri="{FF2B5EF4-FFF2-40B4-BE49-F238E27FC236}">
                  <a16:creationId xmlns:a16="http://schemas.microsoft.com/office/drawing/2014/main" id="{80566CE5-3CB4-768A-903F-B2219F80553E}"/>
                </a:ext>
              </a:extLst>
            </p:cNvPr>
            <p:cNvSpPr/>
            <p:nvPr/>
          </p:nvSpPr>
          <p:spPr>
            <a:xfrm>
              <a:off x="0" y="961940"/>
              <a:ext cx="46619" cy="206430"/>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16" name="Rectangle 15">
              <a:extLst>
                <a:ext uri="{FF2B5EF4-FFF2-40B4-BE49-F238E27FC236}">
                  <a16:creationId xmlns:a16="http://schemas.microsoft.com/office/drawing/2014/main" id="{72F550F1-E108-91E4-9089-654F195AB3E6}"/>
                </a:ext>
              </a:extLst>
            </p:cNvPr>
            <p:cNvSpPr/>
            <p:nvPr/>
          </p:nvSpPr>
          <p:spPr>
            <a:xfrm>
              <a:off x="0" y="1088433"/>
              <a:ext cx="46619" cy="206429"/>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17" name="Rectangle 16">
              <a:extLst>
                <a:ext uri="{FF2B5EF4-FFF2-40B4-BE49-F238E27FC236}">
                  <a16:creationId xmlns:a16="http://schemas.microsoft.com/office/drawing/2014/main" id="{FFFCF424-A943-7C6E-3EB5-6F69587677E7}"/>
                </a:ext>
              </a:extLst>
            </p:cNvPr>
            <p:cNvSpPr/>
            <p:nvPr/>
          </p:nvSpPr>
          <p:spPr>
            <a:xfrm>
              <a:off x="0" y="1214924"/>
              <a:ext cx="46619" cy="206430"/>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18" name="Rectangle 17">
              <a:extLst>
                <a:ext uri="{FF2B5EF4-FFF2-40B4-BE49-F238E27FC236}">
                  <a16:creationId xmlns:a16="http://schemas.microsoft.com/office/drawing/2014/main" id="{F804BE0C-8E7D-0602-67E4-2DF9C5B6FFAB}"/>
                </a:ext>
              </a:extLst>
            </p:cNvPr>
            <p:cNvSpPr/>
            <p:nvPr/>
          </p:nvSpPr>
          <p:spPr>
            <a:xfrm>
              <a:off x="0" y="1342940"/>
              <a:ext cx="46619" cy="206430"/>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19" name="Rectangle 18">
              <a:extLst>
                <a:ext uri="{FF2B5EF4-FFF2-40B4-BE49-F238E27FC236}">
                  <a16:creationId xmlns:a16="http://schemas.microsoft.com/office/drawing/2014/main" id="{D8A0BC16-6A8E-2F03-4CD2-7741EEC91280}"/>
                </a:ext>
              </a:extLst>
            </p:cNvPr>
            <p:cNvSpPr/>
            <p:nvPr/>
          </p:nvSpPr>
          <p:spPr>
            <a:xfrm>
              <a:off x="0" y="1469433"/>
              <a:ext cx="46619" cy="206429"/>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20" name="Rectangle 19">
              <a:extLst>
                <a:ext uri="{FF2B5EF4-FFF2-40B4-BE49-F238E27FC236}">
                  <a16:creationId xmlns:a16="http://schemas.microsoft.com/office/drawing/2014/main" id="{9ED813FA-EDA6-62FB-63E3-D1DB0B11668F}"/>
                </a:ext>
              </a:extLst>
            </p:cNvPr>
            <p:cNvSpPr/>
            <p:nvPr/>
          </p:nvSpPr>
          <p:spPr>
            <a:xfrm>
              <a:off x="0" y="1595924"/>
              <a:ext cx="46619" cy="206430"/>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21" name="Rectangle 20">
              <a:extLst>
                <a:ext uri="{FF2B5EF4-FFF2-40B4-BE49-F238E27FC236}">
                  <a16:creationId xmlns:a16="http://schemas.microsoft.com/office/drawing/2014/main" id="{5C6D1061-0DBB-A9E7-DDDB-B604CDF28F48}"/>
                </a:ext>
              </a:extLst>
            </p:cNvPr>
            <p:cNvSpPr/>
            <p:nvPr/>
          </p:nvSpPr>
          <p:spPr>
            <a:xfrm>
              <a:off x="0" y="1723940"/>
              <a:ext cx="46619" cy="206430"/>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22" name="Rectangle 21">
              <a:extLst>
                <a:ext uri="{FF2B5EF4-FFF2-40B4-BE49-F238E27FC236}">
                  <a16:creationId xmlns:a16="http://schemas.microsoft.com/office/drawing/2014/main" id="{72980708-712A-3B0F-E690-1738E975E8F5}"/>
                </a:ext>
              </a:extLst>
            </p:cNvPr>
            <p:cNvSpPr/>
            <p:nvPr/>
          </p:nvSpPr>
          <p:spPr>
            <a:xfrm>
              <a:off x="0" y="1850433"/>
              <a:ext cx="46619" cy="206429"/>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23" name="Rectangle 22">
              <a:extLst>
                <a:ext uri="{FF2B5EF4-FFF2-40B4-BE49-F238E27FC236}">
                  <a16:creationId xmlns:a16="http://schemas.microsoft.com/office/drawing/2014/main" id="{32322943-43D4-86C3-2B1F-61F21F36D7F1}"/>
                </a:ext>
              </a:extLst>
            </p:cNvPr>
            <p:cNvSpPr/>
            <p:nvPr/>
          </p:nvSpPr>
          <p:spPr>
            <a:xfrm>
              <a:off x="0" y="1976924"/>
              <a:ext cx="46619" cy="206430"/>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24" name="Rectangle 23">
              <a:extLst>
                <a:ext uri="{FF2B5EF4-FFF2-40B4-BE49-F238E27FC236}">
                  <a16:creationId xmlns:a16="http://schemas.microsoft.com/office/drawing/2014/main" id="{959F2992-14DA-AD38-984D-0BE7B54A93B1}"/>
                </a:ext>
              </a:extLst>
            </p:cNvPr>
            <p:cNvSpPr/>
            <p:nvPr/>
          </p:nvSpPr>
          <p:spPr>
            <a:xfrm>
              <a:off x="0" y="2104940"/>
              <a:ext cx="46619" cy="206430"/>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25" name="Rectangle 24">
              <a:extLst>
                <a:ext uri="{FF2B5EF4-FFF2-40B4-BE49-F238E27FC236}">
                  <a16:creationId xmlns:a16="http://schemas.microsoft.com/office/drawing/2014/main" id="{33C07516-E0DD-786B-7569-9B4A9F82C5C8}"/>
                </a:ext>
              </a:extLst>
            </p:cNvPr>
            <p:cNvSpPr/>
            <p:nvPr/>
          </p:nvSpPr>
          <p:spPr>
            <a:xfrm>
              <a:off x="0" y="2231433"/>
              <a:ext cx="46619" cy="206429"/>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26" name="Rectangle 25">
              <a:extLst>
                <a:ext uri="{FF2B5EF4-FFF2-40B4-BE49-F238E27FC236}">
                  <a16:creationId xmlns:a16="http://schemas.microsoft.com/office/drawing/2014/main" id="{132F6D72-B6F5-4583-0C41-3BB79FC028A0}"/>
                </a:ext>
              </a:extLst>
            </p:cNvPr>
            <p:cNvSpPr/>
            <p:nvPr/>
          </p:nvSpPr>
          <p:spPr>
            <a:xfrm>
              <a:off x="0" y="2357924"/>
              <a:ext cx="46619" cy="206430"/>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27" name="Rectangle 26">
              <a:extLst>
                <a:ext uri="{FF2B5EF4-FFF2-40B4-BE49-F238E27FC236}">
                  <a16:creationId xmlns:a16="http://schemas.microsoft.com/office/drawing/2014/main" id="{5DB5FFA0-8CEF-0614-29F1-E082EFF615FD}"/>
                </a:ext>
              </a:extLst>
            </p:cNvPr>
            <p:cNvSpPr/>
            <p:nvPr/>
          </p:nvSpPr>
          <p:spPr>
            <a:xfrm>
              <a:off x="0" y="2486321"/>
              <a:ext cx="46619" cy="206430"/>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28" name="Rectangle 27">
              <a:extLst>
                <a:ext uri="{FF2B5EF4-FFF2-40B4-BE49-F238E27FC236}">
                  <a16:creationId xmlns:a16="http://schemas.microsoft.com/office/drawing/2014/main" id="{4B189D76-9626-3D9C-ED2B-B8A2DD8011D1}"/>
                </a:ext>
              </a:extLst>
            </p:cNvPr>
            <p:cNvSpPr/>
            <p:nvPr/>
          </p:nvSpPr>
          <p:spPr>
            <a:xfrm>
              <a:off x="0" y="2612814"/>
              <a:ext cx="46619" cy="206429"/>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29" name="Rectangle 28">
              <a:extLst>
                <a:ext uri="{FF2B5EF4-FFF2-40B4-BE49-F238E27FC236}">
                  <a16:creationId xmlns:a16="http://schemas.microsoft.com/office/drawing/2014/main" id="{CCC054ED-5BBC-7240-D2E3-A2224959C428}"/>
                </a:ext>
              </a:extLst>
            </p:cNvPr>
            <p:cNvSpPr/>
            <p:nvPr/>
          </p:nvSpPr>
          <p:spPr>
            <a:xfrm>
              <a:off x="0" y="2739306"/>
              <a:ext cx="46619" cy="206429"/>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30" name="Rectangle 29">
              <a:extLst>
                <a:ext uri="{FF2B5EF4-FFF2-40B4-BE49-F238E27FC236}">
                  <a16:creationId xmlns:a16="http://schemas.microsoft.com/office/drawing/2014/main" id="{A5ED1089-240B-88D2-6387-5B2FF7112288}"/>
                </a:ext>
              </a:extLst>
            </p:cNvPr>
            <p:cNvSpPr/>
            <p:nvPr/>
          </p:nvSpPr>
          <p:spPr>
            <a:xfrm>
              <a:off x="0" y="2867321"/>
              <a:ext cx="46619" cy="206430"/>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sp>
          <p:nvSpPr>
            <p:cNvPr id="31" name="Rectangle 30">
              <a:extLst>
                <a:ext uri="{FF2B5EF4-FFF2-40B4-BE49-F238E27FC236}">
                  <a16:creationId xmlns:a16="http://schemas.microsoft.com/office/drawing/2014/main" id="{BBF74300-4518-4A0A-A7EC-10153B92D60B}"/>
                </a:ext>
              </a:extLst>
            </p:cNvPr>
            <p:cNvSpPr/>
            <p:nvPr/>
          </p:nvSpPr>
          <p:spPr>
            <a:xfrm>
              <a:off x="0" y="2993814"/>
              <a:ext cx="46619" cy="206430"/>
            </a:xfrm>
            <a:prstGeom prst="rect">
              <a:avLst/>
            </a:prstGeom>
            <a:ln>
              <a:noFill/>
            </a:ln>
          </p:spPr>
          <p:txBody>
            <a:bodyPr vert="horz" lIns="0" tIns="0" rIns="0" bIns="0" rtlCol="0">
              <a:noAutofit/>
            </a:bodyPr>
            <a:lstStyle/>
            <a:p>
              <a:pPr marL="311150" marR="3175" indent="-6350" algn="l">
                <a:lnSpc>
                  <a:spcPct val="107000"/>
                </a:lnSpc>
                <a:spcAft>
                  <a:spcPts val="800"/>
                </a:spcAft>
              </a:pPr>
              <a:r>
                <a:rPr lang="en-IN" sz="1100" kern="100">
                  <a:solidFill>
                    <a:srgbClr val="000000"/>
                  </a:solidFill>
                  <a:effectLst/>
                  <a:latin typeface="Times New Roman" panose="02020603050405020304" pitchFamily="18" charset="0"/>
                  <a:ea typeface="Times New Roman" panose="02020603050405020304" pitchFamily="18" charset="0"/>
                </a:rPr>
                <a:t> </a:t>
              </a:r>
              <a:endParaRPr lang="en-IN" sz="1200" kern="100">
                <a:solidFill>
                  <a:srgbClr val="000000"/>
                </a:solidFill>
                <a:effectLst/>
                <a:latin typeface="Times New Roman" panose="02020603050405020304" pitchFamily="18" charset="0"/>
                <a:ea typeface="Times New Roman" panose="02020603050405020304" pitchFamily="18" charset="0"/>
              </a:endParaRPr>
            </a:p>
          </p:txBody>
        </p:sp>
      </p:grpSp>
      <p:sp>
        <p:nvSpPr>
          <p:cNvPr id="33" name="TextBox 32">
            <a:extLst>
              <a:ext uri="{FF2B5EF4-FFF2-40B4-BE49-F238E27FC236}">
                <a16:creationId xmlns:a16="http://schemas.microsoft.com/office/drawing/2014/main" id="{DE29C00A-977C-B05C-920E-044CCDB68C4F}"/>
              </a:ext>
            </a:extLst>
          </p:cNvPr>
          <p:cNvSpPr txBox="1"/>
          <p:nvPr/>
        </p:nvSpPr>
        <p:spPr>
          <a:xfrm>
            <a:off x="1001261" y="494906"/>
            <a:ext cx="6096000" cy="523220"/>
          </a:xfrm>
          <a:prstGeom prst="rect">
            <a:avLst/>
          </a:prstGeom>
          <a:noFill/>
        </p:spPr>
        <p:txBody>
          <a:bodyPr wrap="square">
            <a:spAutoFit/>
          </a:bodyPr>
          <a:lstStyle/>
          <a:p>
            <a:r>
              <a:rPr lang="en-IN" sz="2800" b="1" dirty="0">
                <a:solidFill>
                  <a:srgbClr val="000000"/>
                </a:solidFill>
                <a:effectLst/>
                <a:latin typeface="Times New Roman" panose="02020603050405020304" pitchFamily="18" charset="0"/>
                <a:ea typeface="Times New Roman" panose="02020603050405020304" pitchFamily="18" charset="0"/>
              </a:rPr>
              <a:t>Convolution neural network</a:t>
            </a:r>
            <a:r>
              <a:rPr lang="en-IN" sz="2800" dirty="0">
                <a:solidFill>
                  <a:srgbClr val="000000"/>
                </a:solidFill>
                <a:effectLst/>
                <a:latin typeface="Times New Roman" panose="02020603050405020304" pitchFamily="18" charset="0"/>
                <a:ea typeface="Times New Roman" panose="02020603050405020304" pitchFamily="18" charset="0"/>
              </a:rPr>
              <a:t> </a:t>
            </a:r>
            <a:endParaRPr lang="en-IN" sz="2800" dirty="0"/>
          </a:p>
        </p:txBody>
      </p:sp>
    </p:spTree>
    <p:extLst>
      <p:ext uri="{BB962C8B-B14F-4D97-AF65-F5344CB8AC3E}">
        <p14:creationId xmlns:p14="http://schemas.microsoft.com/office/powerpoint/2010/main" val="2440271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BFAC4FDC-BCEE-CBF7-BF81-B38124CD59E2}"/>
              </a:ext>
            </a:extLst>
          </p:cNvPr>
          <p:cNvSpPr>
            <a:spLocks noChangeArrowheads="1"/>
          </p:cNvSpPr>
          <p:nvPr/>
        </p:nvSpPr>
        <p:spPr bwMode="auto">
          <a:xfrm>
            <a:off x="208547" y="318761"/>
            <a:ext cx="11421979" cy="2476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00355" indent="-5080">
              <a:lnSpc>
                <a:spcPct val="107000"/>
              </a:lnSpc>
              <a:spcAft>
                <a:spcPts val="15"/>
              </a:spcAft>
              <a:buNone/>
            </a:pPr>
            <a:r>
              <a:rPr lang="en-IN" sz="1800" b="1" kern="100" dirty="0">
                <a:solidFill>
                  <a:srgbClr val="000000"/>
                </a:solidFill>
                <a:effectLst/>
                <a:latin typeface="Times New Roman" panose="02020603050405020304" pitchFamily="18" charset="0"/>
                <a:ea typeface="Times New Roman" panose="02020603050405020304" pitchFamily="18" charset="0"/>
              </a:rPr>
              <a:t> </a:t>
            </a:r>
            <a:r>
              <a:rPr lang="en-IN" sz="2800" b="1" kern="100" dirty="0">
                <a:solidFill>
                  <a:srgbClr val="000000"/>
                </a:solidFill>
                <a:effectLst/>
                <a:latin typeface="Times New Roman" panose="02020603050405020304" pitchFamily="18" charset="0"/>
                <a:ea typeface="Times New Roman" panose="02020603050405020304" pitchFamily="18" charset="0"/>
              </a:rPr>
              <a:t>K- Clustering methodology</a:t>
            </a:r>
            <a:r>
              <a:rPr lang="en-IN" sz="2800" b="0" kern="100" dirty="0">
                <a:solidFill>
                  <a:srgbClr val="000000"/>
                </a:solidFill>
                <a:effectLst/>
                <a:latin typeface="Times New Roman" panose="02020603050405020304" pitchFamily="18" charset="0"/>
                <a:ea typeface="Times New Roman" panose="02020603050405020304" pitchFamily="18" charset="0"/>
              </a:rPr>
              <a:t> </a:t>
            </a:r>
            <a:endParaRPr lang="en-IN" sz="2800" b="1" kern="100" dirty="0">
              <a:solidFill>
                <a:srgbClr val="000000"/>
              </a:solidFill>
              <a:effectLst/>
              <a:latin typeface="Times New Roman" panose="02020603050405020304" pitchFamily="18" charset="0"/>
              <a:ea typeface="Times New Roman" panose="02020603050405020304" pitchFamily="18" charset="0"/>
            </a:endParaRPr>
          </a:p>
          <a:p>
            <a:pPr marL="304800" marR="3175" indent="-6350" algn="l">
              <a:lnSpc>
                <a:spcPct val="107000"/>
              </a:lnSpc>
              <a:spcAft>
                <a:spcPts val="185"/>
              </a:spcAft>
              <a:buNone/>
            </a:pPr>
            <a:r>
              <a:rPr lang="en-IN" sz="1800" kern="100" dirty="0">
                <a:solidFill>
                  <a:srgbClr val="000000"/>
                </a:solidFill>
                <a:effectLst/>
                <a:latin typeface="Times New Roman" panose="02020603050405020304" pitchFamily="18" charset="0"/>
                <a:ea typeface="Times New Roman" panose="02020603050405020304" pitchFamily="18" charset="0"/>
              </a:rPr>
              <a:t> </a:t>
            </a:r>
          </a:p>
          <a:p>
            <a:pPr marL="301625" marR="3175" indent="-6350" algn="l">
              <a:lnSpc>
                <a:spcPct val="149000"/>
              </a:lnSpc>
              <a:spcAft>
                <a:spcPts val="5"/>
              </a:spcAft>
            </a:pPr>
            <a:r>
              <a:rPr lang="en-IN" sz="1800" kern="100" dirty="0">
                <a:solidFill>
                  <a:srgbClr val="000000"/>
                </a:solidFill>
                <a:effectLst/>
                <a:latin typeface="Times New Roman" panose="02020603050405020304" pitchFamily="18" charset="0"/>
                <a:ea typeface="Times New Roman" panose="02020603050405020304" pitchFamily="18" charset="0"/>
              </a:rPr>
              <a:t> 			 It is an iterative process of assigning each data point to a group and gradually clustering data points based on similar features. The goal is to minimize the sum of the distances between the data points and the cluster centroid in order to determine which group each data point should belong to. We divide a data space into K clusters and assign each a mean value. The data points are assigned to the clusters with the highest mean value.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C60D79E5-1357-D9ED-B885-69C2A9467585}"/>
              </a:ext>
            </a:extLst>
          </p:cNvPr>
          <p:cNvSpPr>
            <a:spLocks noGrp="1"/>
          </p:cNvSpPr>
          <p:nvPr>
            <p:ph type="sldNum" sz="quarter" idx="12"/>
          </p:nvPr>
        </p:nvSpPr>
        <p:spPr/>
        <p:txBody>
          <a:bodyPr/>
          <a:lstStyle/>
          <a:p>
            <a:fld id="{595F2725-082E-469A-BF5C-09635F99CEA1}" type="slidenum">
              <a:rPr lang="en-IN" smtClean="0"/>
              <a:t>11</a:t>
            </a:fld>
            <a:endParaRPr lang="en-IN"/>
          </a:p>
        </p:txBody>
      </p:sp>
      <p:pic>
        <p:nvPicPr>
          <p:cNvPr id="5" name="Picture 4">
            <a:extLst>
              <a:ext uri="{FF2B5EF4-FFF2-40B4-BE49-F238E27FC236}">
                <a16:creationId xmlns:a16="http://schemas.microsoft.com/office/drawing/2014/main" id="{43A4E4F1-52A2-4884-7188-1F269170AB56}"/>
              </a:ext>
            </a:extLst>
          </p:cNvPr>
          <p:cNvPicPr/>
          <p:nvPr/>
        </p:nvPicPr>
        <p:blipFill>
          <a:blip r:embed="rId2"/>
          <a:stretch>
            <a:fillRect/>
          </a:stretch>
        </p:blipFill>
        <p:spPr>
          <a:xfrm>
            <a:off x="3296986" y="3084830"/>
            <a:ext cx="5245100" cy="2181860"/>
          </a:xfrm>
          <a:prstGeom prst="rect">
            <a:avLst/>
          </a:prstGeom>
        </p:spPr>
      </p:pic>
      <p:sp>
        <p:nvSpPr>
          <p:cNvPr id="7" name="TextBox 6">
            <a:extLst>
              <a:ext uri="{FF2B5EF4-FFF2-40B4-BE49-F238E27FC236}">
                <a16:creationId xmlns:a16="http://schemas.microsoft.com/office/drawing/2014/main" id="{B9A017AB-285C-E7DA-0C62-027584BED85B}"/>
              </a:ext>
            </a:extLst>
          </p:cNvPr>
          <p:cNvSpPr txBox="1"/>
          <p:nvPr/>
        </p:nvSpPr>
        <p:spPr>
          <a:xfrm>
            <a:off x="4675639" y="5500673"/>
            <a:ext cx="6096000" cy="369332"/>
          </a:xfrm>
          <a:prstGeom prst="rect">
            <a:avLst/>
          </a:prstGeom>
          <a:noFill/>
        </p:spPr>
        <p:txBody>
          <a:bodyPr wrap="square">
            <a:spAutoFit/>
          </a:bodyPr>
          <a:lstStyle/>
          <a:p>
            <a:r>
              <a:rPr lang="en-IN" sz="1800" dirty="0">
                <a:solidFill>
                  <a:srgbClr val="000000"/>
                </a:solidFill>
                <a:effectLst/>
                <a:latin typeface="Times New Roman" panose="02020603050405020304" pitchFamily="18" charset="0"/>
                <a:ea typeface="Times New Roman" panose="02020603050405020304" pitchFamily="18" charset="0"/>
              </a:rPr>
              <a:t>K- Clustering Algorithm </a:t>
            </a:r>
            <a:endParaRPr lang="en-IN" dirty="0"/>
          </a:p>
        </p:txBody>
      </p:sp>
    </p:spTree>
    <p:extLst>
      <p:ext uri="{BB962C8B-B14F-4D97-AF65-F5344CB8AC3E}">
        <p14:creationId xmlns:p14="http://schemas.microsoft.com/office/powerpoint/2010/main" val="3562438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94BCE48-942B-3767-CD04-566F4FAF288A}"/>
              </a:ext>
            </a:extLst>
          </p:cNvPr>
          <p:cNvSpPr>
            <a:spLocks noGrp="1"/>
          </p:cNvSpPr>
          <p:nvPr>
            <p:ph type="sldNum" sz="quarter" idx="12"/>
          </p:nvPr>
        </p:nvSpPr>
        <p:spPr/>
        <p:txBody>
          <a:bodyPr/>
          <a:lstStyle/>
          <a:p>
            <a:fld id="{595F2725-082E-469A-BF5C-09635F99CEA1}" type="slidenum">
              <a:rPr lang="en-IN" smtClean="0"/>
              <a:t>12</a:t>
            </a:fld>
            <a:endParaRPr lang="en-IN"/>
          </a:p>
        </p:txBody>
      </p:sp>
      <p:sp>
        <p:nvSpPr>
          <p:cNvPr id="5" name="TextBox 4">
            <a:extLst>
              <a:ext uri="{FF2B5EF4-FFF2-40B4-BE49-F238E27FC236}">
                <a16:creationId xmlns:a16="http://schemas.microsoft.com/office/drawing/2014/main" id="{166C844C-1F44-5C9E-8F42-21DBB7B7617B}"/>
              </a:ext>
            </a:extLst>
          </p:cNvPr>
          <p:cNvSpPr txBox="1"/>
          <p:nvPr/>
        </p:nvSpPr>
        <p:spPr>
          <a:xfrm>
            <a:off x="-121920" y="395797"/>
            <a:ext cx="10332720" cy="1704569"/>
          </a:xfrm>
          <a:prstGeom prst="rect">
            <a:avLst/>
          </a:prstGeom>
          <a:noFill/>
        </p:spPr>
        <p:txBody>
          <a:bodyPr wrap="square">
            <a:spAutoFit/>
          </a:bodyPr>
          <a:lstStyle/>
          <a:p>
            <a:pPr marL="283210" indent="-6350" algn="ctr">
              <a:lnSpc>
                <a:spcPct val="150000"/>
              </a:lnSpc>
            </a:pPr>
            <a:r>
              <a:rPr lang="en-IN" sz="1800" b="1" kern="100" dirty="0">
                <a:solidFill>
                  <a:srgbClr val="000000"/>
                </a:solidFill>
                <a:effectLst/>
                <a:latin typeface="Times New Roman" panose="02020603050405020304" pitchFamily="18" charset="0"/>
                <a:ea typeface="Times New Roman" panose="02020603050405020304" pitchFamily="18" charset="0"/>
              </a:rPr>
              <a:t>DETECTION  AND  CLASSIFICATION OF AGRICULTURAL LEAF DISEASES USING HISTOGRAM TECHNIQUE</a:t>
            </a:r>
            <a:endParaRPr lang="en-IN" b="1" kern="100" dirty="0">
              <a:solidFill>
                <a:srgbClr val="000000"/>
              </a:solidFill>
              <a:latin typeface="Times New Roman" panose="02020603050405020304" pitchFamily="18" charset="0"/>
              <a:ea typeface="Times New Roman" panose="02020603050405020304" pitchFamily="18" charset="0"/>
            </a:endParaRPr>
          </a:p>
          <a:p>
            <a:pPr marL="283210" indent="-6350" algn="ctr">
              <a:lnSpc>
                <a:spcPct val="150000"/>
              </a:lnSpc>
            </a:pPr>
            <a:endParaRPr lang="en-IN" sz="1800" b="1" kern="100" dirty="0">
              <a:solidFill>
                <a:srgbClr val="000000"/>
              </a:solidFill>
              <a:effectLst/>
              <a:latin typeface="Times New Roman" panose="02020603050405020304" pitchFamily="18" charset="0"/>
              <a:ea typeface="Times New Roman" panose="02020603050405020304" pitchFamily="18" charset="0"/>
            </a:endParaRPr>
          </a:p>
          <a:p>
            <a:pPr marL="283210" indent="-6350" algn="ctr">
              <a:lnSpc>
                <a:spcPct val="150000"/>
              </a:lnSpc>
            </a:pPr>
            <a:endParaRPr lang="en-IN" sz="1800" b="1" kern="100" dirty="0">
              <a:solidFill>
                <a:srgbClr val="000000"/>
              </a:solidFill>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id="{AF11FFF5-0A70-50C4-8D85-F579D1A0B96A}"/>
              </a:ext>
            </a:extLst>
          </p:cNvPr>
          <p:cNvSpPr txBox="1"/>
          <p:nvPr/>
        </p:nvSpPr>
        <p:spPr>
          <a:xfrm>
            <a:off x="0" y="1234440"/>
            <a:ext cx="11795760" cy="1968039"/>
          </a:xfrm>
          <a:prstGeom prst="rect">
            <a:avLst/>
          </a:prstGeom>
          <a:noFill/>
        </p:spPr>
        <p:txBody>
          <a:bodyPr wrap="square">
            <a:spAutoFit/>
          </a:bodyPr>
          <a:lstStyle/>
          <a:p>
            <a:pPr marL="311150" marR="3175" indent="-6350" algn="l">
              <a:lnSpc>
                <a:spcPct val="107000"/>
              </a:lnSpc>
              <a:spcAft>
                <a:spcPts val="25"/>
              </a:spcAft>
              <a:buNone/>
            </a:pPr>
            <a:r>
              <a:rPr lang="en-IN" sz="1600" kern="100" dirty="0">
                <a:solidFill>
                  <a:srgbClr val="000000"/>
                </a:solidFill>
                <a:effectLst/>
                <a:latin typeface="Times New Roman" panose="02020603050405020304" pitchFamily="18" charset="0"/>
                <a:ea typeface="Times New Roman" panose="02020603050405020304" pitchFamily="18" charset="0"/>
              </a:rPr>
              <a:t> </a:t>
            </a:r>
            <a:endParaRPr lang="en-IN" sz="1800" kern="100" dirty="0">
              <a:solidFill>
                <a:srgbClr val="000000"/>
              </a:solidFill>
              <a:effectLst/>
              <a:latin typeface="Times New Roman" panose="02020603050405020304" pitchFamily="18" charset="0"/>
              <a:ea typeface="Times New Roman" panose="02020603050405020304" pitchFamily="18" charset="0"/>
            </a:endParaRPr>
          </a:p>
          <a:p>
            <a:pPr marL="301625" marR="113665" indent="-6350" algn="just">
              <a:lnSpc>
                <a:spcPct val="150000"/>
              </a:lnSpc>
              <a:spcAft>
                <a:spcPts val="25"/>
              </a:spcAft>
            </a:pPr>
            <a:r>
              <a:rPr lang="en-IN" sz="1800" kern="100" dirty="0">
                <a:solidFill>
                  <a:srgbClr val="000000"/>
                </a:solidFill>
                <a:effectLst/>
                <a:latin typeface="Times New Roman" panose="02020603050405020304" pitchFamily="18" charset="0"/>
                <a:ea typeface="Times New Roman" panose="02020603050405020304" pitchFamily="18" charset="0"/>
              </a:rPr>
              <a:t>			Productivity in agriculture contributes significantly to the economy. The factors contributing to the significance of plant disease detection in the agricultural industry, as plant diseases are frequently present. The quality, quantity, or productivity of the corresponding crops are adversely affected, and plants suffer serious consequences if necessary steps are not taken in this area. Rose plants are afflicted by the hazardous illness known as little leaf disease. </a:t>
            </a:r>
          </a:p>
        </p:txBody>
      </p:sp>
      <p:pic>
        <p:nvPicPr>
          <p:cNvPr id="9" name="Picture 8">
            <a:extLst>
              <a:ext uri="{FF2B5EF4-FFF2-40B4-BE49-F238E27FC236}">
                <a16:creationId xmlns:a16="http://schemas.microsoft.com/office/drawing/2014/main" id="{F6ED1655-1E63-3F2F-C9A3-D15DD0C42E39}"/>
              </a:ext>
            </a:extLst>
          </p:cNvPr>
          <p:cNvPicPr/>
          <p:nvPr/>
        </p:nvPicPr>
        <p:blipFill>
          <a:blip r:embed="rId2"/>
          <a:stretch>
            <a:fillRect/>
          </a:stretch>
        </p:blipFill>
        <p:spPr>
          <a:xfrm>
            <a:off x="2941320" y="3327782"/>
            <a:ext cx="5364480" cy="2509138"/>
          </a:xfrm>
          <a:prstGeom prst="rect">
            <a:avLst/>
          </a:prstGeom>
        </p:spPr>
      </p:pic>
      <p:sp>
        <p:nvSpPr>
          <p:cNvPr id="11" name="TextBox 10">
            <a:extLst>
              <a:ext uri="{FF2B5EF4-FFF2-40B4-BE49-F238E27FC236}">
                <a16:creationId xmlns:a16="http://schemas.microsoft.com/office/drawing/2014/main" id="{C6512685-8239-1A08-22A0-8B619AC9ECA8}"/>
              </a:ext>
            </a:extLst>
          </p:cNvPr>
          <p:cNvSpPr txBox="1"/>
          <p:nvPr/>
        </p:nvSpPr>
        <p:spPr>
          <a:xfrm>
            <a:off x="3169920" y="5962223"/>
            <a:ext cx="6156960" cy="369332"/>
          </a:xfrm>
          <a:prstGeom prst="rect">
            <a:avLst/>
          </a:prstGeom>
          <a:noFill/>
        </p:spPr>
        <p:txBody>
          <a:bodyPr wrap="square">
            <a:spAutoFit/>
          </a:bodyPr>
          <a:lstStyle/>
          <a:p>
            <a:r>
              <a:rPr lang="en-IN" sz="1800" dirty="0">
                <a:solidFill>
                  <a:srgbClr val="000000"/>
                </a:solidFill>
                <a:effectLst/>
                <a:latin typeface="Times New Roman" panose="02020603050405020304" pitchFamily="18" charset="0"/>
                <a:ea typeface="Times New Roman" panose="02020603050405020304" pitchFamily="18" charset="0"/>
              </a:rPr>
              <a:t>Image of infected leaf affected by the pathogens </a:t>
            </a:r>
            <a:endParaRPr lang="en-IN" dirty="0"/>
          </a:p>
        </p:txBody>
      </p:sp>
    </p:spTree>
    <p:extLst>
      <p:ext uri="{BB962C8B-B14F-4D97-AF65-F5344CB8AC3E}">
        <p14:creationId xmlns:p14="http://schemas.microsoft.com/office/powerpoint/2010/main" val="1890119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73CF58-4741-DF8C-0DE2-DD0BD06CF1B0}"/>
              </a:ext>
            </a:extLst>
          </p:cNvPr>
          <p:cNvSpPr txBox="1"/>
          <p:nvPr/>
        </p:nvSpPr>
        <p:spPr>
          <a:xfrm>
            <a:off x="737938" y="336884"/>
            <a:ext cx="10106526" cy="2935675"/>
          </a:xfrm>
          <a:prstGeom prst="rect">
            <a:avLst/>
          </a:prstGeom>
          <a:noFill/>
        </p:spPr>
        <p:txBody>
          <a:bodyPr wrap="square">
            <a:spAutoFit/>
          </a:bodyPr>
          <a:lstStyle/>
          <a:p>
            <a:pPr marL="300355" indent="-5080">
              <a:lnSpc>
                <a:spcPct val="107000"/>
              </a:lnSpc>
              <a:spcAft>
                <a:spcPts val="15"/>
              </a:spcAft>
              <a:buNone/>
            </a:pPr>
            <a:r>
              <a:rPr lang="en-IN" sz="2800" b="1" kern="100" dirty="0">
                <a:solidFill>
                  <a:srgbClr val="000000"/>
                </a:solidFill>
                <a:effectLst/>
                <a:latin typeface="Times New Roman" panose="02020603050405020304" pitchFamily="18" charset="0"/>
                <a:ea typeface="Times New Roman" panose="02020603050405020304" pitchFamily="18" charset="0"/>
              </a:rPr>
              <a:t>Biology point of view </a:t>
            </a:r>
          </a:p>
          <a:p>
            <a:pPr marL="311150" marR="3175" indent="-6350" algn="l">
              <a:lnSpc>
                <a:spcPct val="107000"/>
              </a:lnSpc>
              <a:spcAft>
                <a:spcPts val="25"/>
              </a:spcAft>
              <a:buNone/>
            </a:pPr>
            <a:r>
              <a:rPr lang="en-IN" sz="1800" kern="100" dirty="0">
                <a:solidFill>
                  <a:srgbClr val="000000"/>
                </a:solidFill>
                <a:effectLst/>
                <a:latin typeface="Times New Roman" panose="02020603050405020304" pitchFamily="18" charset="0"/>
                <a:ea typeface="Times New Roman" panose="02020603050405020304" pitchFamily="18" charset="0"/>
              </a:rPr>
              <a:t> 		</a:t>
            </a:r>
          </a:p>
          <a:p>
            <a:pPr marL="311150" marR="3175" indent="-6350" algn="l">
              <a:lnSpc>
                <a:spcPct val="107000"/>
              </a:lnSpc>
              <a:spcAft>
                <a:spcPts val="25"/>
              </a:spcAft>
              <a:buNone/>
            </a:pPr>
            <a:r>
              <a:rPr lang="en-IN" kern="100" dirty="0">
                <a:solidFill>
                  <a:srgbClr val="000000"/>
                </a:solidFill>
                <a:latin typeface="Times New Roman" panose="02020603050405020304" pitchFamily="18" charset="0"/>
                <a:ea typeface="Times New Roman" panose="02020603050405020304" pitchFamily="18" charset="0"/>
              </a:rPr>
              <a:t>			</a:t>
            </a:r>
            <a:r>
              <a:rPr lang="en-IN" sz="1800" kern="100" dirty="0">
                <a:solidFill>
                  <a:srgbClr val="000000"/>
                </a:solidFill>
                <a:effectLst/>
                <a:latin typeface="Times New Roman" panose="02020603050405020304" pitchFamily="18" charset="0"/>
                <a:ea typeface="Times New Roman" panose="02020603050405020304" pitchFamily="18" charset="0"/>
              </a:rPr>
              <a:t>Much work has been done in the field of leaf recognition to extract generic features or recognize several item groups. When recognizing certain domains, the system performs better since it takes into consideration the special traits that fall under this group. Despite the project high level of technicality, working with leaves has a biological undertone. It is necessary to acquire and understand very fundamental information about leaves from the viewpoint of how scientists </a:t>
            </a:r>
          </a:p>
          <a:p>
            <a:pPr marL="311150" marR="3175" indent="-6350" algn="l">
              <a:lnSpc>
                <a:spcPct val="107000"/>
              </a:lnSpc>
              <a:spcAft>
                <a:spcPts val="25"/>
              </a:spcAft>
            </a:pPr>
            <a:r>
              <a:rPr lang="en-IN" sz="1800" kern="100" dirty="0">
                <a:solidFill>
                  <a:srgbClr val="000000"/>
                </a:solidFill>
                <a:effectLst/>
                <a:latin typeface="Times New Roman" panose="02020603050405020304" pitchFamily="18" charset="0"/>
                <a:ea typeface="Times New Roman" panose="02020603050405020304" pitchFamily="18" charset="0"/>
              </a:rPr>
              <a:t> </a:t>
            </a:r>
          </a:p>
          <a:p>
            <a:pPr algn="just">
              <a:buNone/>
            </a:pPr>
            <a:endParaRPr lang="en-IN" sz="2000" dirty="0">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D3058617-BB56-6E9A-5472-EBD41DDA0684}"/>
              </a:ext>
            </a:extLst>
          </p:cNvPr>
          <p:cNvSpPr>
            <a:spLocks noGrp="1"/>
          </p:cNvSpPr>
          <p:nvPr>
            <p:ph type="sldNum" sz="quarter" idx="12"/>
          </p:nvPr>
        </p:nvSpPr>
        <p:spPr/>
        <p:txBody>
          <a:bodyPr/>
          <a:lstStyle/>
          <a:p>
            <a:fld id="{595F2725-082E-469A-BF5C-09635F99CEA1}" type="slidenum">
              <a:rPr lang="en-IN" smtClean="0"/>
              <a:t>13</a:t>
            </a:fld>
            <a:endParaRPr lang="en-IN"/>
          </a:p>
        </p:txBody>
      </p:sp>
      <p:pic>
        <p:nvPicPr>
          <p:cNvPr id="2" name="Picture 1">
            <a:extLst>
              <a:ext uri="{FF2B5EF4-FFF2-40B4-BE49-F238E27FC236}">
                <a16:creationId xmlns:a16="http://schemas.microsoft.com/office/drawing/2014/main" id="{F93D6212-50C7-89FC-8AFE-6402DEB0FD74}"/>
              </a:ext>
            </a:extLst>
          </p:cNvPr>
          <p:cNvPicPr/>
          <p:nvPr/>
        </p:nvPicPr>
        <p:blipFill>
          <a:blip r:embed="rId2"/>
          <a:stretch>
            <a:fillRect/>
          </a:stretch>
        </p:blipFill>
        <p:spPr>
          <a:xfrm>
            <a:off x="3526791" y="2691447"/>
            <a:ext cx="4528820" cy="2846705"/>
          </a:xfrm>
          <a:prstGeom prst="rect">
            <a:avLst/>
          </a:prstGeom>
        </p:spPr>
      </p:pic>
      <p:sp>
        <p:nvSpPr>
          <p:cNvPr id="6" name="TextBox 5">
            <a:extLst>
              <a:ext uri="{FF2B5EF4-FFF2-40B4-BE49-F238E27FC236}">
                <a16:creationId xmlns:a16="http://schemas.microsoft.com/office/drawing/2014/main" id="{A1CF5243-56A5-1B75-D8BB-B2A5202E8052}"/>
              </a:ext>
            </a:extLst>
          </p:cNvPr>
          <p:cNvSpPr txBox="1"/>
          <p:nvPr/>
        </p:nvSpPr>
        <p:spPr>
          <a:xfrm>
            <a:off x="4892040" y="5538152"/>
            <a:ext cx="6096000" cy="369332"/>
          </a:xfrm>
          <a:prstGeom prst="rect">
            <a:avLst/>
          </a:prstGeom>
          <a:noFill/>
        </p:spPr>
        <p:txBody>
          <a:bodyPr wrap="square">
            <a:spAutoFit/>
          </a:bodyPr>
          <a:lstStyle/>
          <a:p>
            <a:r>
              <a:rPr lang="en-IN" sz="1800" dirty="0">
                <a:solidFill>
                  <a:srgbClr val="000000"/>
                </a:solidFill>
                <a:effectLst/>
                <a:latin typeface="Times New Roman" panose="02020603050405020304" pitchFamily="18" charset="0"/>
                <a:ea typeface="Times New Roman" panose="02020603050405020304" pitchFamily="18" charset="0"/>
              </a:rPr>
              <a:t>Leaf features </a:t>
            </a:r>
            <a:endParaRPr lang="en-IN" dirty="0"/>
          </a:p>
        </p:txBody>
      </p:sp>
    </p:spTree>
    <p:extLst>
      <p:ext uri="{BB962C8B-B14F-4D97-AF65-F5344CB8AC3E}">
        <p14:creationId xmlns:p14="http://schemas.microsoft.com/office/powerpoint/2010/main" val="3233070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59E8F1-30EB-D374-5E6E-8AA5FF7A6F6C}"/>
              </a:ext>
            </a:extLst>
          </p:cNvPr>
          <p:cNvSpPr txBox="1"/>
          <p:nvPr/>
        </p:nvSpPr>
        <p:spPr>
          <a:xfrm>
            <a:off x="182880" y="310240"/>
            <a:ext cx="10876547" cy="523220"/>
          </a:xfrm>
          <a:prstGeom prst="rect">
            <a:avLst/>
          </a:prstGeom>
          <a:noFill/>
        </p:spPr>
        <p:txBody>
          <a:bodyPr wrap="square">
            <a:spAutoFit/>
          </a:bodyPr>
          <a:lstStyle/>
          <a:p>
            <a:pPr algn="just">
              <a:buNone/>
            </a:pPr>
            <a:r>
              <a:rPr lang="en-IN" sz="2800" b="1" dirty="0">
                <a:solidFill>
                  <a:srgbClr val="000000"/>
                </a:solidFill>
                <a:effectLst/>
                <a:latin typeface="Times New Roman" panose="02020603050405020304" pitchFamily="18" charset="0"/>
                <a:ea typeface="Times New Roman" panose="02020603050405020304" pitchFamily="18" charset="0"/>
              </a:rPr>
              <a:t>Proposed methodology </a:t>
            </a:r>
            <a:endParaRPr lang="en-IN" sz="3200" b="1" dirty="0">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6A24AB22-CE04-613E-08C8-7021C1970D22}"/>
              </a:ext>
            </a:extLst>
          </p:cNvPr>
          <p:cNvSpPr>
            <a:spLocks noGrp="1"/>
          </p:cNvSpPr>
          <p:nvPr>
            <p:ph type="sldNum" sz="quarter" idx="12"/>
          </p:nvPr>
        </p:nvSpPr>
        <p:spPr/>
        <p:txBody>
          <a:bodyPr/>
          <a:lstStyle/>
          <a:p>
            <a:fld id="{595F2725-082E-469A-BF5C-09635F99CEA1}" type="slidenum">
              <a:rPr lang="en-IN" smtClean="0"/>
              <a:t>14</a:t>
            </a:fld>
            <a:endParaRPr lang="en-IN"/>
          </a:p>
        </p:txBody>
      </p:sp>
      <p:sp>
        <p:nvSpPr>
          <p:cNvPr id="5" name="TextBox 4">
            <a:extLst>
              <a:ext uri="{FF2B5EF4-FFF2-40B4-BE49-F238E27FC236}">
                <a16:creationId xmlns:a16="http://schemas.microsoft.com/office/drawing/2014/main" id="{D96590DC-0C2A-F0B2-0B64-B9B82B302063}"/>
              </a:ext>
            </a:extLst>
          </p:cNvPr>
          <p:cNvSpPr txBox="1"/>
          <p:nvPr/>
        </p:nvSpPr>
        <p:spPr>
          <a:xfrm>
            <a:off x="79640" y="679572"/>
            <a:ext cx="10420719" cy="1342547"/>
          </a:xfrm>
          <a:prstGeom prst="rect">
            <a:avLst/>
          </a:prstGeom>
          <a:noFill/>
        </p:spPr>
        <p:txBody>
          <a:bodyPr wrap="square">
            <a:spAutoFit/>
          </a:bodyPr>
          <a:lstStyle/>
          <a:p>
            <a:pPr marL="311150" marR="3175" indent="-6350" algn="l">
              <a:lnSpc>
                <a:spcPct val="107000"/>
              </a:lnSpc>
              <a:spcAft>
                <a:spcPts val="25"/>
              </a:spcAft>
              <a:buNone/>
            </a:pPr>
            <a:r>
              <a:rPr lang="en-IN" sz="1800" kern="100" dirty="0">
                <a:solidFill>
                  <a:srgbClr val="000000"/>
                </a:solidFill>
                <a:effectLst/>
                <a:latin typeface="Times New Roman" panose="02020603050405020304" pitchFamily="18" charset="0"/>
                <a:ea typeface="Times New Roman" panose="02020603050405020304" pitchFamily="18" charset="0"/>
              </a:rPr>
              <a:t> </a:t>
            </a:r>
          </a:p>
          <a:p>
            <a:pPr marL="301625" marR="3175" indent="-6350" algn="just">
              <a:lnSpc>
                <a:spcPct val="150000"/>
              </a:lnSpc>
              <a:spcAft>
                <a:spcPts val="25"/>
              </a:spcAft>
              <a:buNone/>
            </a:pPr>
            <a:r>
              <a:rPr lang="en-IN" sz="1800" kern="100" dirty="0">
                <a:solidFill>
                  <a:srgbClr val="000000"/>
                </a:solidFill>
                <a:effectLst/>
                <a:latin typeface="Times New Roman" panose="02020603050405020304" pitchFamily="18" charset="0"/>
                <a:ea typeface="Times New Roman" panose="02020603050405020304" pitchFamily="18" charset="0"/>
              </a:rPr>
              <a:t>Digital cameras are used to capture images of diverse leaves. Additional picture pre- processing methods are used following the acquisition of those images. </a:t>
            </a:r>
          </a:p>
          <a:p>
            <a:pPr marL="311150" marR="3175" indent="-6350" algn="l">
              <a:lnSpc>
                <a:spcPct val="107000"/>
              </a:lnSpc>
              <a:spcAft>
                <a:spcPts val="25"/>
              </a:spcAft>
            </a:pPr>
            <a:r>
              <a:rPr lang="en-IN" sz="800" kern="100" dirty="0">
                <a:solidFill>
                  <a:srgbClr val="000000"/>
                </a:solidFill>
                <a:effectLst/>
                <a:latin typeface="Times New Roman" panose="02020603050405020304" pitchFamily="18" charset="0"/>
                <a:ea typeface="Times New Roman" panose="02020603050405020304" pitchFamily="18" charset="0"/>
              </a:rPr>
              <a:t> </a:t>
            </a:r>
            <a:endParaRPr lang="en-IN" sz="1800" kern="100" dirty="0">
              <a:solidFill>
                <a:srgbClr val="000000"/>
              </a:solidFill>
              <a:effectLst/>
              <a:latin typeface="Times New Roman" panose="02020603050405020304" pitchFamily="18" charset="0"/>
              <a:ea typeface="Times New Roman" panose="02020603050405020304" pitchFamily="18" charset="0"/>
            </a:endParaRPr>
          </a:p>
        </p:txBody>
      </p:sp>
      <p:pic>
        <p:nvPicPr>
          <p:cNvPr id="6" name="Picture 5">
            <a:extLst>
              <a:ext uri="{FF2B5EF4-FFF2-40B4-BE49-F238E27FC236}">
                <a16:creationId xmlns:a16="http://schemas.microsoft.com/office/drawing/2014/main" id="{55FA55E7-48F8-95A0-2A23-0DF049DD75F6}"/>
              </a:ext>
            </a:extLst>
          </p:cNvPr>
          <p:cNvPicPr/>
          <p:nvPr/>
        </p:nvPicPr>
        <p:blipFill>
          <a:blip r:embed="rId2"/>
          <a:stretch>
            <a:fillRect/>
          </a:stretch>
        </p:blipFill>
        <p:spPr>
          <a:xfrm>
            <a:off x="3256095" y="2391451"/>
            <a:ext cx="4364355" cy="3449955"/>
          </a:xfrm>
          <a:prstGeom prst="rect">
            <a:avLst/>
          </a:prstGeom>
        </p:spPr>
      </p:pic>
      <p:sp>
        <p:nvSpPr>
          <p:cNvPr id="8" name="TextBox 7">
            <a:extLst>
              <a:ext uri="{FF2B5EF4-FFF2-40B4-BE49-F238E27FC236}">
                <a16:creationId xmlns:a16="http://schemas.microsoft.com/office/drawing/2014/main" id="{A46636A5-1E37-EA35-EDC7-BD33E2C3B075}"/>
              </a:ext>
            </a:extLst>
          </p:cNvPr>
          <p:cNvSpPr txBox="1"/>
          <p:nvPr/>
        </p:nvSpPr>
        <p:spPr>
          <a:xfrm>
            <a:off x="3947160" y="5656740"/>
            <a:ext cx="6096000" cy="369332"/>
          </a:xfrm>
          <a:prstGeom prst="rect">
            <a:avLst/>
          </a:prstGeom>
          <a:noFill/>
        </p:spPr>
        <p:txBody>
          <a:bodyPr wrap="square">
            <a:spAutoFit/>
          </a:bodyPr>
          <a:lstStyle/>
          <a:p>
            <a:r>
              <a:rPr lang="en-IN" sz="1800" b="1" dirty="0">
                <a:solidFill>
                  <a:srgbClr val="000000"/>
                </a:solidFill>
                <a:effectLst/>
                <a:latin typeface="Times New Roman" panose="02020603050405020304" pitchFamily="18" charset="0"/>
                <a:ea typeface="Times New Roman" panose="02020603050405020304" pitchFamily="18" charset="0"/>
              </a:rPr>
              <a:t>Block diagram of proposed approach</a:t>
            </a:r>
            <a:r>
              <a:rPr lang="en-IN" sz="1800" dirty="0">
                <a:solidFill>
                  <a:srgbClr val="000000"/>
                </a:solidFill>
                <a:effectLst/>
                <a:latin typeface="Times New Roman" panose="02020603050405020304" pitchFamily="18" charset="0"/>
                <a:ea typeface="Times New Roman" panose="02020603050405020304" pitchFamily="18" charset="0"/>
              </a:rPr>
              <a:t> </a:t>
            </a:r>
            <a:endParaRPr lang="en-IN" dirty="0"/>
          </a:p>
        </p:txBody>
      </p:sp>
    </p:spTree>
    <p:extLst>
      <p:ext uri="{BB962C8B-B14F-4D97-AF65-F5344CB8AC3E}">
        <p14:creationId xmlns:p14="http://schemas.microsoft.com/office/powerpoint/2010/main" val="4151724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C4006F-54A3-EDE1-7643-9E0D6749C575}"/>
              </a:ext>
            </a:extLst>
          </p:cNvPr>
          <p:cNvSpPr>
            <a:spLocks noGrp="1"/>
          </p:cNvSpPr>
          <p:nvPr>
            <p:ph type="sldNum" sz="quarter" idx="12"/>
          </p:nvPr>
        </p:nvSpPr>
        <p:spPr/>
        <p:txBody>
          <a:bodyPr/>
          <a:lstStyle/>
          <a:p>
            <a:fld id="{595F2725-082E-469A-BF5C-09635F99CEA1}" type="slidenum">
              <a:rPr lang="en-IN" smtClean="0"/>
              <a:t>15</a:t>
            </a:fld>
            <a:endParaRPr lang="en-IN"/>
          </a:p>
        </p:txBody>
      </p:sp>
      <p:sp>
        <p:nvSpPr>
          <p:cNvPr id="4" name="TextBox 3">
            <a:extLst>
              <a:ext uri="{FF2B5EF4-FFF2-40B4-BE49-F238E27FC236}">
                <a16:creationId xmlns:a16="http://schemas.microsoft.com/office/drawing/2014/main" id="{74ECC57A-49DF-6B9C-9633-D8FE77B6F611}"/>
              </a:ext>
            </a:extLst>
          </p:cNvPr>
          <p:cNvSpPr txBox="1"/>
          <p:nvPr/>
        </p:nvSpPr>
        <p:spPr>
          <a:xfrm>
            <a:off x="228600" y="495194"/>
            <a:ext cx="6096000" cy="522259"/>
          </a:xfrm>
          <a:prstGeom prst="rect">
            <a:avLst/>
          </a:prstGeom>
          <a:noFill/>
        </p:spPr>
        <p:txBody>
          <a:bodyPr wrap="square">
            <a:spAutoFit/>
          </a:bodyPr>
          <a:lstStyle/>
          <a:p>
            <a:pPr marL="301625" indent="-6350">
              <a:lnSpc>
                <a:spcPct val="107000"/>
              </a:lnSpc>
            </a:pPr>
            <a:r>
              <a:rPr lang="en-IN" sz="2800" b="1" kern="100" dirty="0">
                <a:solidFill>
                  <a:srgbClr val="000000"/>
                </a:solidFill>
                <a:effectLst/>
                <a:latin typeface="Times New Roman" panose="02020603050405020304" pitchFamily="18" charset="0"/>
                <a:ea typeface="Times New Roman" panose="02020603050405020304" pitchFamily="18" charset="0"/>
              </a:rPr>
              <a:t>Implementation</a:t>
            </a:r>
            <a:r>
              <a:rPr lang="en-IN" sz="2800" kern="100" dirty="0">
                <a:solidFill>
                  <a:srgbClr val="000000"/>
                </a:solidFill>
                <a:effectLst/>
                <a:latin typeface="Times New Roman" panose="02020603050405020304" pitchFamily="18" charset="0"/>
                <a:ea typeface="Times New Roman" panose="02020603050405020304" pitchFamily="18" charset="0"/>
              </a:rPr>
              <a:t> </a:t>
            </a:r>
            <a:r>
              <a:rPr lang="en-IN" sz="2800" b="1" kern="100" dirty="0">
                <a:solidFill>
                  <a:srgbClr val="000000"/>
                </a:solidFill>
                <a:effectLst/>
                <a:latin typeface="Times New Roman" panose="02020603050405020304" pitchFamily="18" charset="0"/>
                <a:ea typeface="Times New Roman" panose="02020603050405020304" pitchFamily="18" charset="0"/>
              </a:rPr>
              <a:t>Details</a:t>
            </a:r>
            <a:r>
              <a:rPr lang="en-IN" sz="2800" kern="100" dirty="0">
                <a:solidFill>
                  <a:srgbClr val="000000"/>
                </a:solidFill>
                <a:effectLst/>
                <a:latin typeface="Times New Roman" panose="02020603050405020304" pitchFamily="18" charset="0"/>
                <a:ea typeface="Times New Roman" panose="02020603050405020304" pitchFamily="18" charset="0"/>
              </a:rPr>
              <a:t> </a:t>
            </a:r>
          </a:p>
        </p:txBody>
      </p:sp>
      <p:sp>
        <p:nvSpPr>
          <p:cNvPr id="6" name="TextBox 5">
            <a:extLst>
              <a:ext uri="{FF2B5EF4-FFF2-40B4-BE49-F238E27FC236}">
                <a16:creationId xmlns:a16="http://schemas.microsoft.com/office/drawing/2014/main" id="{66472853-64CF-9B57-A46D-E2CC1A7AFCFD}"/>
              </a:ext>
            </a:extLst>
          </p:cNvPr>
          <p:cNvSpPr txBox="1"/>
          <p:nvPr/>
        </p:nvSpPr>
        <p:spPr>
          <a:xfrm>
            <a:off x="106680" y="883921"/>
            <a:ext cx="10881360" cy="6100901"/>
          </a:xfrm>
          <a:prstGeom prst="rect">
            <a:avLst/>
          </a:prstGeom>
          <a:noFill/>
        </p:spPr>
        <p:txBody>
          <a:bodyPr wrap="square">
            <a:spAutoFit/>
          </a:bodyPr>
          <a:lstStyle/>
          <a:p>
            <a:pPr marL="311150" marR="3175" indent="-6350" algn="l">
              <a:lnSpc>
                <a:spcPct val="107000"/>
              </a:lnSpc>
              <a:spcAft>
                <a:spcPts val="25"/>
              </a:spcAft>
              <a:buNone/>
            </a:pPr>
            <a:r>
              <a:rPr lang="en-IN" sz="1800" kern="100" dirty="0">
                <a:solidFill>
                  <a:srgbClr val="000000"/>
                </a:solidFill>
                <a:effectLst/>
                <a:latin typeface="Times New Roman" panose="02020603050405020304" pitchFamily="18" charset="0"/>
                <a:ea typeface="Times New Roman" panose="02020603050405020304" pitchFamily="18" charset="0"/>
              </a:rPr>
              <a:t> </a:t>
            </a:r>
          </a:p>
          <a:p>
            <a:pPr marL="301625" marR="111125" indent="-6350" algn="just">
              <a:lnSpc>
                <a:spcPct val="150000"/>
              </a:lnSpc>
              <a:spcAft>
                <a:spcPts val="25"/>
              </a:spcAft>
            </a:pPr>
            <a:r>
              <a:rPr lang="en-IN" sz="1800" kern="100" dirty="0">
                <a:solidFill>
                  <a:srgbClr val="000000"/>
                </a:solidFill>
                <a:effectLst/>
                <a:latin typeface="Times New Roman" panose="02020603050405020304" pitchFamily="18" charset="0"/>
                <a:ea typeface="Times New Roman" panose="02020603050405020304" pitchFamily="18" charset="0"/>
              </a:rPr>
              <a:t>			Identifying the disease at its primitive stage and suggesting that pesticides, names and quantity of fungicides are very emerging needs of modern agriculture. In traditional agriculture, diseases are only identified by real-time observation, but today the daily area covered by any type of fruit field is increasing, so it is not possible to identify diseases by the only real-time observation. </a:t>
            </a:r>
          </a:p>
          <a:p>
            <a:pPr marL="301625" marR="115570" indent="-6350" algn="just">
              <a:lnSpc>
                <a:spcPct val="150000"/>
              </a:lnSpc>
              <a:spcAft>
                <a:spcPts val="25"/>
              </a:spcAft>
              <a:buNone/>
            </a:pPr>
            <a:r>
              <a:rPr lang="en-IN" sz="1800" kern="100" dirty="0">
                <a:solidFill>
                  <a:srgbClr val="000000"/>
                </a:solidFill>
                <a:effectLst/>
                <a:latin typeface="Times New Roman" panose="02020603050405020304" pitchFamily="18" charset="0"/>
                <a:ea typeface="Times New Roman" panose="02020603050405020304" pitchFamily="18" charset="0"/>
              </a:rPr>
              <a:t>				Nowadays most of the people doing service also take an interest in different types of flower farming but they don’t have knowledge of conventional agricultural methodology. They need a special type of help and support system to become successful in agriculture. If these farmers will use the proposed system, they can start spraying applications remotely if disease probability is severe. This approach can also be developed using normal techniques like JAVA, but using MATLAB gives the efficient and effective result. As the main focus of this application is user-friendly, this application is designed in such a way that it supports the multilingual concept. This application is helpful for farmers and laboratories where they can easily protect their crops and there will be an increase in growth production growth. </a:t>
            </a:r>
          </a:p>
          <a:p>
            <a:pPr marL="311150" marR="3175" indent="-6350" algn="l">
              <a:lnSpc>
                <a:spcPct val="107000"/>
              </a:lnSpc>
              <a:spcAft>
                <a:spcPts val="475"/>
              </a:spcAft>
            </a:pPr>
            <a:r>
              <a:rPr lang="en-IN" sz="1800" kern="100" dirty="0">
                <a:solidFill>
                  <a:srgbClr val="000000"/>
                </a:solidFill>
                <a:effectLst/>
                <a:latin typeface="Times New Roman" panose="02020603050405020304" pitchFamily="18" charset="0"/>
                <a:ea typeface="Times New Roman" panose="02020603050405020304" pitchFamily="18" charset="0"/>
              </a:rPr>
              <a:t> </a:t>
            </a:r>
          </a:p>
          <a:p>
            <a:pPr marL="301625" marR="111125" indent="-6350" algn="just">
              <a:lnSpc>
                <a:spcPct val="150000"/>
              </a:lnSpc>
              <a:spcAft>
                <a:spcPts val="25"/>
              </a:spcAft>
            </a:pPr>
            <a:endParaRPr lang="en-IN" sz="1800" kern="100" dirty="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09877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BBB7EB-71F6-60EE-684D-A44D89069226}"/>
              </a:ext>
            </a:extLst>
          </p:cNvPr>
          <p:cNvSpPr>
            <a:spLocks noGrp="1"/>
          </p:cNvSpPr>
          <p:nvPr>
            <p:ph type="sldNum" sz="quarter" idx="12"/>
          </p:nvPr>
        </p:nvSpPr>
        <p:spPr/>
        <p:txBody>
          <a:bodyPr/>
          <a:lstStyle/>
          <a:p>
            <a:fld id="{595F2725-082E-469A-BF5C-09635F99CEA1}" type="slidenum">
              <a:rPr lang="en-IN" smtClean="0"/>
              <a:t>16</a:t>
            </a:fld>
            <a:endParaRPr lang="en-IN"/>
          </a:p>
        </p:txBody>
      </p:sp>
      <p:sp>
        <p:nvSpPr>
          <p:cNvPr id="4" name="TextBox 3">
            <a:extLst>
              <a:ext uri="{FF2B5EF4-FFF2-40B4-BE49-F238E27FC236}">
                <a16:creationId xmlns:a16="http://schemas.microsoft.com/office/drawing/2014/main" id="{CA498EC0-7DBF-0620-EB26-D10122C8B22C}"/>
              </a:ext>
            </a:extLst>
          </p:cNvPr>
          <p:cNvSpPr txBox="1"/>
          <p:nvPr/>
        </p:nvSpPr>
        <p:spPr>
          <a:xfrm>
            <a:off x="0" y="310817"/>
            <a:ext cx="7345680" cy="522259"/>
          </a:xfrm>
          <a:prstGeom prst="rect">
            <a:avLst/>
          </a:prstGeom>
          <a:noFill/>
        </p:spPr>
        <p:txBody>
          <a:bodyPr wrap="square">
            <a:spAutoFit/>
          </a:bodyPr>
          <a:lstStyle/>
          <a:p>
            <a:pPr marL="300355" indent="-5080">
              <a:lnSpc>
                <a:spcPct val="107000"/>
              </a:lnSpc>
              <a:spcAft>
                <a:spcPts val="15"/>
              </a:spcAft>
            </a:pPr>
            <a:r>
              <a:rPr lang="en-IN" sz="2800" b="1" kern="100" dirty="0">
                <a:solidFill>
                  <a:srgbClr val="000000"/>
                </a:solidFill>
                <a:effectLst/>
                <a:latin typeface="Times New Roman" panose="02020603050405020304" pitchFamily="18" charset="0"/>
                <a:ea typeface="Times New Roman" panose="02020603050405020304" pitchFamily="18" charset="0"/>
              </a:rPr>
              <a:t>Software Implementation detail MATLAB </a:t>
            </a:r>
          </a:p>
        </p:txBody>
      </p:sp>
      <p:sp>
        <p:nvSpPr>
          <p:cNvPr id="6" name="TextBox 5">
            <a:extLst>
              <a:ext uri="{FF2B5EF4-FFF2-40B4-BE49-F238E27FC236}">
                <a16:creationId xmlns:a16="http://schemas.microsoft.com/office/drawing/2014/main" id="{36A31AE8-29A0-071E-E662-01E22DFE93EB}"/>
              </a:ext>
            </a:extLst>
          </p:cNvPr>
          <p:cNvSpPr txBox="1"/>
          <p:nvPr/>
        </p:nvSpPr>
        <p:spPr>
          <a:xfrm>
            <a:off x="289560" y="1510412"/>
            <a:ext cx="10901179" cy="4385816"/>
          </a:xfrm>
          <a:prstGeom prst="rect">
            <a:avLst/>
          </a:prstGeom>
          <a:noFill/>
        </p:spPr>
        <p:txBody>
          <a:bodyPr wrap="square">
            <a:spAutoFit/>
          </a:bodyPr>
          <a:lstStyle/>
          <a:p>
            <a:pPr marL="301625" marR="111125" indent="-6350" algn="just">
              <a:lnSpc>
                <a:spcPct val="150000"/>
              </a:lnSpc>
              <a:spcAft>
                <a:spcPts val="25"/>
              </a:spcAft>
              <a:buNone/>
            </a:pPr>
            <a:r>
              <a:rPr lang="en-IN" sz="1800" kern="100" dirty="0">
                <a:solidFill>
                  <a:srgbClr val="000000"/>
                </a:solidFill>
                <a:effectLst/>
                <a:latin typeface="Times New Roman" panose="02020603050405020304" pitchFamily="18" charset="0"/>
                <a:ea typeface="Times New Roman" panose="02020603050405020304" pitchFamily="18" charset="0"/>
              </a:rPr>
              <a:t>					For numerical computing, data analysis, visualization, and algorithm creation, MATLAB (short for matrix laboratory) is a high-level programming language and development environment that is extensively used in the scientific and engineering areas. It was first created by Math Works and made public in 1984.These toolboxes cover a wide range of topics, including machine learning, statistics, control systems, optimisation, signal processing, and more. Users can easily complete intricate calculations and analyses thanks to the functions and algorithms contained in each toolbox that are designed for particular tasks within that domain. One needs an effective understanding of MATLAB's syntax, functions, and toolboxes in order to utilize it successfully. Practice, online resources, official documentation, and lessons offered by MathWorks, the firm that created MATLAB, are all ways to learn this. Additionally, </a:t>
            </a:r>
          </a:p>
          <a:p>
            <a:pPr>
              <a:buNone/>
            </a:pPr>
            <a:r>
              <a:rPr lang="en-IN" sz="1800" dirty="0">
                <a:solidFill>
                  <a:srgbClr val="000000"/>
                </a:solidFill>
                <a:effectLst/>
                <a:latin typeface="Times New Roman" panose="02020603050405020304" pitchFamily="18" charset="0"/>
                <a:ea typeface="Times New Roman" panose="02020603050405020304" pitchFamily="18" charset="0"/>
              </a:rPr>
              <a:t>			MATLAB enables users to construct interactive applications and interfaces for their MATLAB code by supporting the development of graphical user interfaces (GUIs). </a:t>
            </a:r>
            <a:endParaRPr lang="en-IN" dirty="0"/>
          </a:p>
        </p:txBody>
      </p:sp>
    </p:spTree>
    <p:extLst>
      <p:ext uri="{BB962C8B-B14F-4D97-AF65-F5344CB8AC3E}">
        <p14:creationId xmlns:p14="http://schemas.microsoft.com/office/powerpoint/2010/main" val="26468622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4EAD43-09FD-E8DC-D9D7-A06A0D586BD8}"/>
              </a:ext>
            </a:extLst>
          </p:cNvPr>
          <p:cNvSpPr>
            <a:spLocks noGrp="1"/>
          </p:cNvSpPr>
          <p:nvPr>
            <p:ph type="sldNum" sz="quarter" idx="12"/>
          </p:nvPr>
        </p:nvSpPr>
        <p:spPr/>
        <p:txBody>
          <a:bodyPr/>
          <a:lstStyle/>
          <a:p>
            <a:fld id="{595F2725-082E-469A-BF5C-09635F99CEA1}" type="slidenum">
              <a:rPr lang="en-IN" smtClean="0"/>
              <a:t>17</a:t>
            </a:fld>
            <a:endParaRPr lang="en-IN"/>
          </a:p>
        </p:txBody>
      </p:sp>
      <p:sp>
        <p:nvSpPr>
          <p:cNvPr id="4" name="TextBox 3">
            <a:extLst>
              <a:ext uri="{FF2B5EF4-FFF2-40B4-BE49-F238E27FC236}">
                <a16:creationId xmlns:a16="http://schemas.microsoft.com/office/drawing/2014/main" id="{0AAA772B-F2F1-D2F1-8CC5-74EC48792C93}"/>
              </a:ext>
            </a:extLst>
          </p:cNvPr>
          <p:cNvSpPr txBox="1"/>
          <p:nvPr/>
        </p:nvSpPr>
        <p:spPr>
          <a:xfrm>
            <a:off x="594360" y="494906"/>
            <a:ext cx="6096000" cy="523220"/>
          </a:xfrm>
          <a:prstGeom prst="rect">
            <a:avLst/>
          </a:prstGeom>
          <a:noFill/>
        </p:spPr>
        <p:txBody>
          <a:bodyPr wrap="square">
            <a:spAutoFit/>
          </a:bodyPr>
          <a:lstStyle/>
          <a:p>
            <a:r>
              <a:rPr lang="en-IN" sz="2800" b="1" dirty="0">
                <a:solidFill>
                  <a:srgbClr val="000000"/>
                </a:solidFill>
                <a:effectLst/>
                <a:latin typeface="Times New Roman" panose="02020603050405020304" pitchFamily="18" charset="0"/>
                <a:ea typeface="Times New Roman" panose="02020603050405020304" pitchFamily="18" charset="0"/>
              </a:rPr>
              <a:t>Result analysis </a:t>
            </a:r>
            <a:endParaRPr lang="en-IN" sz="2800" b="1" dirty="0"/>
          </a:p>
        </p:txBody>
      </p:sp>
      <p:sp>
        <p:nvSpPr>
          <p:cNvPr id="6" name="TextBox 5">
            <a:extLst>
              <a:ext uri="{FF2B5EF4-FFF2-40B4-BE49-F238E27FC236}">
                <a16:creationId xmlns:a16="http://schemas.microsoft.com/office/drawing/2014/main" id="{B59AE039-41FA-DE68-76C8-4E6502BA7820}"/>
              </a:ext>
            </a:extLst>
          </p:cNvPr>
          <p:cNvSpPr txBox="1"/>
          <p:nvPr/>
        </p:nvSpPr>
        <p:spPr>
          <a:xfrm>
            <a:off x="594360" y="1295400"/>
            <a:ext cx="10287000" cy="2862322"/>
          </a:xfrm>
          <a:prstGeom prst="rect">
            <a:avLst/>
          </a:prstGeom>
          <a:noFill/>
        </p:spPr>
        <p:txBody>
          <a:bodyPr wrap="square">
            <a:spAutoFit/>
          </a:bodyPr>
          <a:lstStyle/>
          <a:p>
            <a:r>
              <a:rPr lang="en-IN" sz="1800" dirty="0">
                <a:solidFill>
                  <a:srgbClr val="000000"/>
                </a:solidFill>
                <a:effectLst/>
                <a:latin typeface="Times New Roman" panose="02020603050405020304" pitchFamily="18" charset="0"/>
                <a:ea typeface="Times New Roman" panose="02020603050405020304" pitchFamily="18" charset="0"/>
              </a:rPr>
              <a:t>			Disease management is a challenging task. Mostly diseases are seen on the leaves or stems of the plant. Precise quantification of these visually observed diseases, pests, traits has not studied yet because of the complexity of visual patterns. Hence there has been increasing demand for more specific and sophisticated image pattern understanding. In the following proposed method we have taken the samples of some plant leaves for example rose and tomato by using histogram equalization method in spatial domain we are going to find from which part the leaves are getting rotten or to detect healthy and unhealthy leaf of plant   and as histogram smoothing is a spatial domain method that produces an output image with a uniform distribution of pixel intensities, which means that the histogram of the output image is systematically smoothed and stretched. This approach usually works for the image enhancement paradigm due to its simplicity and relatively better than other traditional methods. </a:t>
            </a:r>
            <a:endParaRPr lang="en-IN" dirty="0"/>
          </a:p>
        </p:txBody>
      </p:sp>
    </p:spTree>
    <p:extLst>
      <p:ext uri="{BB962C8B-B14F-4D97-AF65-F5344CB8AC3E}">
        <p14:creationId xmlns:p14="http://schemas.microsoft.com/office/powerpoint/2010/main" val="2821559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10A675-AD0F-A9E2-BD3B-4B608979B8BE}"/>
              </a:ext>
            </a:extLst>
          </p:cNvPr>
          <p:cNvSpPr>
            <a:spLocks noGrp="1"/>
          </p:cNvSpPr>
          <p:nvPr>
            <p:ph type="sldNum" sz="quarter" idx="12"/>
          </p:nvPr>
        </p:nvSpPr>
        <p:spPr/>
        <p:txBody>
          <a:bodyPr/>
          <a:lstStyle/>
          <a:p>
            <a:fld id="{595F2725-082E-469A-BF5C-09635F99CEA1}" type="slidenum">
              <a:rPr lang="en-IN" smtClean="0"/>
              <a:t>18</a:t>
            </a:fld>
            <a:endParaRPr lang="en-IN"/>
          </a:p>
        </p:txBody>
      </p:sp>
      <p:sp>
        <p:nvSpPr>
          <p:cNvPr id="4" name="TextBox 3">
            <a:extLst>
              <a:ext uri="{FF2B5EF4-FFF2-40B4-BE49-F238E27FC236}">
                <a16:creationId xmlns:a16="http://schemas.microsoft.com/office/drawing/2014/main" id="{99FDD42B-9468-71DF-57E8-B469923C4A5E}"/>
              </a:ext>
            </a:extLst>
          </p:cNvPr>
          <p:cNvSpPr txBox="1"/>
          <p:nvPr/>
        </p:nvSpPr>
        <p:spPr>
          <a:xfrm>
            <a:off x="411480" y="494906"/>
            <a:ext cx="6096000" cy="523220"/>
          </a:xfrm>
          <a:prstGeom prst="rect">
            <a:avLst/>
          </a:prstGeom>
          <a:noFill/>
        </p:spPr>
        <p:txBody>
          <a:bodyPr wrap="square">
            <a:spAutoFit/>
          </a:bodyPr>
          <a:lstStyle/>
          <a:p>
            <a:r>
              <a:rPr lang="en-IN" sz="2800" b="1" dirty="0">
                <a:solidFill>
                  <a:srgbClr val="000000"/>
                </a:solidFill>
                <a:effectLst/>
                <a:latin typeface="Times New Roman" panose="02020603050405020304" pitchFamily="18" charset="0"/>
                <a:ea typeface="Times New Roman" panose="02020603050405020304" pitchFamily="18" charset="0"/>
              </a:rPr>
              <a:t>Outputs</a:t>
            </a:r>
            <a:r>
              <a:rPr lang="en-IN" sz="1800" dirty="0">
                <a:solidFill>
                  <a:srgbClr val="000000"/>
                </a:solidFill>
                <a:effectLst/>
                <a:latin typeface="Times New Roman" panose="02020603050405020304" pitchFamily="18" charset="0"/>
                <a:ea typeface="Times New Roman" panose="02020603050405020304" pitchFamily="18" charset="0"/>
              </a:rPr>
              <a:t> </a:t>
            </a:r>
            <a:endParaRPr lang="en-IN" dirty="0"/>
          </a:p>
        </p:txBody>
      </p:sp>
      <p:pic>
        <p:nvPicPr>
          <p:cNvPr id="5" name="Picture 4">
            <a:extLst>
              <a:ext uri="{FF2B5EF4-FFF2-40B4-BE49-F238E27FC236}">
                <a16:creationId xmlns:a16="http://schemas.microsoft.com/office/drawing/2014/main" id="{68AAD907-D376-A541-C1D8-28E94DDDCDC8}"/>
              </a:ext>
            </a:extLst>
          </p:cNvPr>
          <p:cNvPicPr/>
          <p:nvPr/>
        </p:nvPicPr>
        <p:blipFill>
          <a:blip r:embed="rId2"/>
          <a:stretch>
            <a:fillRect/>
          </a:stretch>
        </p:blipFill>
        <p:spPr>
          <a:xfrm>
            <a:off x="285115" y="995680"/>
            <a:ext cx="5277485" cy="2819400"/>
          </a:xfrm>
          <a:prstGeom prst="rect">
            <a:avLst/>
          </a:prstGeom>
        </p:spPr>
      </p:pic>
      <p:sp>
        <p:nvSpPr>
          <p:cNvPr id="7" name="TextBox 6">
            <a:extLst>
              <a:ext uri="{FF2B5EF4-FFF2-40B4-BE49-F238E27FC236}">
                <a16:creationId xmlns:a16="http://schemas.microsoft.com/office/drawing/2014/main" id="{A5069B58-3E2A-44DF-7F9F-44E2C28AE145}"/>
              </a:ext>
            </a:extLst>
          </p:cNvPr>
          <p:cNvSpPr txBox="1"/>
          <p:nvPr/>
        </p:nvSpPr>
        <p:spPr>
          <a:xfrm>
            <a:off x="586740" y="3860162"/>
            <a:ext cx="6096000" cy="369332"/>
          </a:xfrm>
          <a:prstGeom prst="rect">
            <a:avLst/>
          </a:prstGeom>
          <a:noFill/>
        </p:spPr>
        <p:txBody>
          <a:bodyPr wrap="square">
            <a:spAutoFit/>
          </a:bodyPr>
          <a:lstStyle/>
          <a:p>
            <a:r>
              <a:rPr lang="en-IN" sz="1800" dirty="0">
                <a:solidFill>
                  <a:srgbClr val="000000"/>
                </a:solidFill>
                <a:effectLst/>
                <a:latin typeface="Times New Roman" panose="02020603050405020304" pitchFamily="18" charset="0"/>
                <a:ea typeface="Times New Roman" panose="02020603050405020304" pitchFamily="18" charset="0"/>
              </a:rPr>
              <a:t>Shows the rose healthy used in the experiment </a:t>
            </a:r>
            <a:endParaRPr lang="en-IN" dirty="0"/>
          </a:p>
        </p:txBody>
      </p:sp>
      <p:pic>
        <p:nvPicPr>
          <p:cNvPr id="8" name="Picture 7">
            <a:extLst>
              <a:ext uri="{FF2B5EF4-FFF2-40B4-BE49-F238E27FC236}">
                <a16:creationId xmlns:a16="http://schemas.microsoft.com/office/drawing/2014/main" id="{CD1DCB3A-1352-754E-9B6D-52A49184A206}"/>
              </a:ext>
            </a:extLst>
          </p:cNvPr>
          <p:cNvPicPr/>
          <p:nvPr/>
        </p:nvPicPr>
        <p:blipFill>
          <a:blip r:embed="rId3"/>
          <a:stretch>
            <a:fillRect/>
          </a:stretch>
        </p:blipFill>
        <p:spPr>
          <a:xfrm>
            <a:off x="5932939" y="2997838"/>
            <a:ext cx="5257800" cy="3027680"/>
          </a:xfrm>
          <a:prstGeom prst="rect">
            <a:avLst/>
          </a:prstGeom>
        </p:spPr>
      </p:pic>
      <p:sp>
        <p:nvSpPr>
          <p:cNvPr id="10" name="TextBox 9">
            <a:extLst>
              <a:ext uri="{FF2B5EF4-FFF2-40B4-BE49-F238E27FC236}">
                <a16:creationId xmlns:a16="http://schemas.microsoft.com/office/drawing/2014/main" id="{273EB6A9-3221-A975-693F-BC1D00F1B242}"/>
              </a:ext>
            </a:extLst>
          </p:cNvPr>
          <p:cNvSpPr txBox="1"/>
          <p:nvPr/>
        </p:nvSpPr>
        <p:spPr>
          <a:xfrm>
            <a:off x="5160278" y="6115787"/>
            <a:ext cx="6096000" cy="646331"/>
          </a:xfrm>
          <a:prstGeom prst="rect">
            <a:avLst/>
          </a:prstGeom>
          <a:noFill/>
        </p:spPr>
        <p:txBody>
          <a:bodyPr wrap="square">
            <a:spAutoFit/>
          </a:bodyPr>
          <a:lstStyle/>
          <a:p>
            <a:r>
              <a:rPr lang="en-IN" sz="1800" dirty="0">
                <a:solidFill>
                  <a:srgbClr val="000000"/>
                </a:solidFill>
                <a:effectLst/>
                <a:latin typeface="Times New Roman" panose="02020603050405020304" pitchFamily="18" charset="0"/>
                <a:ea typeface="Times New Roman" panose="02020603050405020304" pitchFamily="18" charset="0"/>
              </a:rPr>
              <a:t>Shows the Histogram of Rose healthy leaf in which Y-Axis represents the intensity whereas X-Axis represents the tonal </a:t>
            </a:r>
            <a:endParaRPr lang="en-IN" dirty="0"/>
          </a:p>
        </p:txBody>
      </p:sp>
    </p:spTree>
    <p:extLst>
      <p:ext uri="{BB962C8B-B14F-4D97-AF65-F5344CB8AC3E}">
        <p14:creationId xmlns:p14="http://schemas.microsoft.com/office/powerpoint/2010/main" val="1828400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F9ADC6-8DAF-1189-4EAF-4BB07BDB0878}"/>
              </a:ext>
            </a:extLst>
          </p:cNvPr>
          <p:cNvSpPr>
            <a:spLocks noGrp="1"/>
          </p:cNvSpPr>
          <p:nvPr>
            <p:ph type="sldNum" sz="quarter" idx="12"/>
          </p:nvPr>
        </p:nvSpPr>
        <p:spPr/>
        <p:txBody>
          <a:bodyPr/>
          <a:lstStyle/>
          <a:p>
            <a:fld id="{595F2725-082E-469A-BF5C-09635F99CEA1}" type="slidenum">
              <a:rPr lang="en-IN" smtClean="0"/>
              <a:t>19</a:t>
            </a:fld>
            <a:endParaRPr lang="en-IN"/>
          </a:p>
        </p:txBody>
      </p:sp>
      <p:sp>
        <p:nvSpPr>
          <p:cNvPr id="4" name="TextBox 3">
            <a:extLst>
              <a:ext uri="{FF2B5EF4-FFF2-40B4-BE49-F238E27FC236}">
                <a16:creationId xmlns:a16="http://schemas.microsoft.com/office/drawing/2014/main" id="{8B024016-F414-4621-4FB5-729B74238A85}"/>
              </a:ext>
            </a:extLst>
          </p:cNvPr>
          <p:cNvSpPr txBox="1"/>
          <p:nvPr/>
        </p:nvSpPr>
        <p:spPr>
          <a:xfrm>
            <a:off x="274320" y="106472"/>
            <a:ext cx="9768840" cy="6751528"/>
          </a:xfrm>
          <a:prstGeom prst="rect">
            <a:avLst/>
          </a:prstGeom>
          <a:noFill/>
        </p:spPr>
        <p:txBody>
          <a:bodyPr wrap="square">
            <a:spAutoFit/>
          </a:bodyPr>
          <a:lstStyle/>
          <a:p>
            <a:pPr>
              <a:lnSpc>
                <a:spcPct val="115000"/>
              </a:lnSpc>
              <a:spcAft>
                <a:spcPts val="1000"/>
              </a:spcAft>
              <a:buNone/>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Source code</a:t>
            </a:r>
          </a:p>
          <a:p>
            <a:pPr>
              <a:lnSpc>
                <a:spcPct val="115000"/>
              </a:lnSpc>
              <a:spcAft>
                <a:spcPts val="1000"/>
              </a:spcAft>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Prepare Your Dataset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Organize your images in folders like this on your local machine: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err="1">
                <a:effectLst/>
                <a:latin typeface="Calibri" panose="020F0502020204030204" pitchFamily="34" charset="0"/>
                <a:ea typeface="Calibri" panose="020F0502020204030204" pitchFamily="34" charset="0"/>
                <a:cs typeface="Times New Roman" panose="02020603050405020304" pitchFamily="18" charset="0"/>
              </a:rPr>
              <a:t>PlantDataset</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 Blight/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Arial" panose="020B0604020202020204" pitchFamily="34" charset="0"/>
                <a:ea typeface="Calibri" panose="020F0502020204030204" pitchFamily="34" charset="0"/>
                <a:cs typeface="Times New Roman" panose="02020603050405020304" pitchFamily="18" charset="0"/>
              </a:rPr>
              <a:t>├</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 img1.jpg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 img2.jpg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 Rust/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Arial" panose="020B0604020202020204" pitchFamily="34" charset="0"/>
                <a:ea typeface="Calibri" panose="020F0502020204030204" pitchFamily="34" charset="0"/>
                <a:cs typeface="Times New Roman" panose="02020603050405020304" pitchFamily="18" charset="0"/>
              </a:rPr>
              <a:t>├</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 img3.jpg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Arial" panose="020B0604020202020204" pitchFamily="34" charset="0"/>
                <a:ea typeface="Calibri" panose="020F0502020204030204" pitchFamily="34" charset="0"/>
                <a:cs typeface="Times New Roman" panose="02020603050405020304" pitchFamily="18" charset="0"/>
              </a:rPr>
              <a:t>├</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 Healthy/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Arial" panose="020B0604020202020204" pitchFamily="34" charset="0"/>
                <a:ea typeface="Calibri" panose="020F0502020204030204" pitchFamily="34" charset="0"/>
                <a:cs typeface="Times New Roman" panose="02020603050405020304" pitchFamily="18" charset="0"/>
              </a:rPr>
              <a:t>├</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 img4.jpg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Spot/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Arial" panose="020B0604020202020204" pitchFamily="34" charset="0"/>
                <a:ea typeface="Calibri" panose="020F0502020204030204" pitchFamily="34" charset="0"/>
                <a:cs typeface="Times New Roman" panose="02020603050405020304" pitchFamily="18" charset="0"/>
              </a:rPr>
              <a:t>├</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 img5.jpg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Each folder name is the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class name (disease)</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 INSTALL DEPENDENCIES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85495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402D82-101E-0DA1-4063-98B773622D55}"/>
              </a:ext>
            </a:extLst>
          </p:cNvPr>
          <p:cNvSpPr>
            <a:spLocks noGrp="1"/>
          </p:cNvSpPr>
          <p:nvPr>
            <p:ph type="sldNum" sz="quarter" idx="12"/>
          </p:nvPr>
        </p:nvSpPr>
        <p:spPr/>
        <p:txBody>
          <a:bodyPr/>
          <a:lstStyle/>
          <a:p>
            <a:fld id="{595F2725-082E-469A-BF5C-09635F99CEA1}" type="slidenum">
              <a:rPr lang="en-IN" smtClean="0"/>
              <a:t>20</a:t>
            </a:fld>
            <a:endParaRPr lang="en-IN"/>
          </a:p>
        </p:txBody>
      </p:sp>
      <p:sp>
        <p:nvSpPr>
          <p:cNvPr id="6" name="TextBox 5">
            <a:extLst>
              <a:ext uri="{FF2B5EF4-FFF2-40B4-BE49-F238E27FC236}">
                <a16:creationId xmlns:a16="http://schemas.microsoft.com/office/drawing/2014/main" id="{FDA6885E-8267-5D3A-68EE-E49C779D31FE}"/>
              </a:ext>
            </a:extLst>
          </p:cNvPr>
          <p:cNvSpPr txBox="1"/>
          <p:nvPr/>
        </p:nvSpPr>
        <p:spPr>
          <a:xfrm>
            <a:off x="400820" y="197415"/>
            <a:ext cx="9951720" cy="6645345"/>
          </a:xfrm>
          <a:prstGeom prst="rect">
            <a:avLst/>
          </a:prstGeom>
          <a:noFill/>
        </p:spPr>
        <p:txBody>
          <a:bodyPr wrap="square">
            <a:spAutoFit/>
          </a:bodyPr>
          <a:lstStyle/>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 UPLOAD ZIP DATASET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print("</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 Please upload a ZIP file containing class folders like Blight/, Rust/, Healthy/...")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uploaded =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files.upload</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 UNZIP</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for name in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uploaded.keys</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zip_name</a:t>
            </a:r>
            <a:r>
              <a:rPr lang="en-US" sz="1800" dirty="0">
                <a:effectLst/>
                <a:latin typeface="Calibri" panose="020F0502020204030204" pitchFamily="34" charset="0"/>
                <a:ea typeface="Calibri" panose="020F0502020204030204" pitchFamily="34" charset="0"/>
                <a:cs typeface="Times New Roman" panose="02020603050405020304" pitchFamily="18" charset="0"/>
              </a:rPr>
              <a:t> = name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break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err="1">
                <a:effectLst/>
                <a:latin typeface="Calibri" panose="020F0502020204030204" pitchFamily="34" charset="0"/>
                <a:ea typeface="Calibri" panose="020F0502020204030204" pitchFamily="34" charset="0"/>
                <a:cs typeface="Times New Roman" panose="02020603050405020304" pitchFamily="18" charset="0"/>
              </a:rPr>
              <a:t>dataset_dir</a:t>
            </a:r>
            <a:r>
              <a:rPr lang="en-US" sz="1800" dirty="0">
                <a:effectLst/>
                <a:latin typeface="Calibri" panose="020F0502020204030204" pitchFamily="34" charset="0"/>
                <a:ea typeface="Calibri" panose="020F0502020204030204" pitchFamily="34" charset="0"/>
                <a:cs typeface="Times New Roman" panose="02020603050405020304" pitchFamily="18" charset="0"/>
              </a:rPr>
              <a:t> =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PlantDataset</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err="1">
                <a:effectLst/>
                <a:latin typeface="Calibri" panose="020F0502020204030204" pitchFamily="34" charset="0"/>
                <a:ea typeface="Calibri" panose="020F0502020204030204" pitchFamily="34" charset="0"/>
                <a:cs typeface="Times New Roman" panose="02020603050405020304" pitchFamily="18" charset="0"/>
              </a:rPr>
              <a:t>os.makedirs</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dataset_dir</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exist_ok</a:t>
            </a:r>
            <a:r>
              <a:rPr lang="en-US" sz="1800" dirty="0">
                <a:effectLst/>
                <a:latin typeface="Calibri" panose="020F0502020204030204" pitchFamily="34" charset="0"/>
                <a:ea typeface="Calibri" panose="020F0502020204030204" pitchFamily="34" charset="0"/>
                <a:cs typeface="Times New Roman" panose="02020603050405020304" pitchFamily="18" charset="0"/>
              </a:rPr>
              <a:t>=True)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with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zipfile.ZipFile</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zip_name</a:t>
            </a:r>
            <a:r>
              <a:rPr lang="en-US" sz="1800" dirty="0">
                <a:effectLst/>
                <a:latin typeface="Calibri" panose="020F0502020204030204" pitchFamily="34" charset="0"/>
                <a:ea typeface="Calibri" panose="020F0502020204030204" pitchFamily="34" charset="0"/>
                <a:cs typeface="Times New Roman" panose="02020603050405020304" pitchFamily="18" charset="0"/>
              </a:rPr>
              <a:t>, 'r') as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zip_ref</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zip_ref.extractall</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dataset_dir</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 IMAGE PREPROCESSING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803323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7AAE7B-258B-D0F9-683D-42246EEC6F4D}"/>
              </a:ext>
            </a:extLst>
          </p:cNvPr>
          <p:cNvSpPr>
            <a:spLocks noGrp="1"/>
          </p:cNvSpPr>
          <p:nvPr>
            <p:ph type="sldNum" sz="quarter" idx="12"/>
          </p:nvPr>
        </p:nvSpPr>
        <p:spPr/>
        <p:txBody>
          <a:bodyPr/>
          <a:lstStyle/>
          <a:p>
            <a:fld id="{595F2725-082E-469A-BF5C-09635F99CEA1}" type="slidenum">
              <a:rPr lang="en-IN" smtClean="0"/>
              <a:t>21</a:t>
            </a:fld>
            <a:endParaRPr lang="en-IN"/>
          </a:p>
        </p:txBody>
      </p:sp>
      <p:sp>
        <p:nvSpPr>
          <p:cNvPr id="4" name="TextBox 3">
            <a:extLst>
              <a:ext uri="{FF2B5EF4-FFF2-40B4-BE49-F238E27FC236}">
                <a16:creationId xmlns:a16="http://schemas.microsoft.com/office/drawing/2014/main" id="{0A82AFAD-2ED5-913C-1644-6C8600FB4EB4}"/>
              </a:ext>
            </a:extLst>
          </p:cNvPr>
          <p:cNvSpPr txBox="1"/>
          <p:nvPr/>
        </p:nvSpPr>
        <p:spPr>
          <a:xfrm>
            <a:off x="381000" y="295729"/>
            <a:ext cx="8763000" cy="5753626"/>
          </a:xfrm>
          <a:prstGeom prst="rect">
            <a:avLst/>
          </a:prstGeom>
          <a:noFill/>
        </p:spPr>
        <p:txBody>
          <a:bodyPr wrap="square">
            <a:spAutoFit/>
          </a:bodyPr>
          <a:lstStyle/>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def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extract_features</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img</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hsv</a:t>
            </a:r>
            <a:r>
              <a:rPr lang="en-US" sz="1800" dirty="0">
                <a:effectLst/>
                <a:latin typeface="Calibri" panose="020F0502020204030204" pitchFamily="34" charset="0"/>
                <a:ea typeface="Calibri" panose="020F0502020204030204" pitchFamily="34" charset="0"/>
                <a:cs typeface="Times New Roman" panose="02020603050405020304" pitchFamily="18" charset="0"/>
              </a:rPr>
              <a:t> = cv2.cvtColor(</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img</a:t>
            </a:r>
            <a:r>
              <a:rPr lang="en-US" sz="1800" dirty="0">
                <a:effectLst/>
                <a:latin typeface="Calibri" panose="020F0502020204030204" pitchFamily="34" charset="0"/>
                <a:ea typeface="Calibri" panose="020F0502020204030204" pitchFamily="34" charset="0"/>
                <a:cs typeface="Times New Roman" panose="02020603050405020304" pitchFamily="18" charset="0"/>
              </a:rPr>
              <a:t>, cv2.COLOR_BGR2HSV)</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hist = cv2.calcHist([</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hsv</a:t>
            </a:r>
            <a:r>
              <a:rPr lang="en-US" sz="1800" dirty="0">
                <a:effectLst/>
                <a:latin typeface="Calibri" panose="020F0502020204030204" pitchFamily="34" charset="0"/>
                <a:ea typeface="Calibri" panose="020F0502020204030204" pitchFamily="34" charset="0"/>
                <a:cs typeface="Times New Roman" panose="02020603050405020304" pitchFamily="18" charset="0"/>
              </a:rPr>
              <a:t>], [0, 1, 2], None, [8, 8, 8], [0, 180, 0, 256, 0, 256])</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return cv2.normalize(hist, hist).flatten()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 LOAD DATASET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X, y = [],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labels =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print("</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 Extracting features from dataset...")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for label in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os.listdir</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dataset_dir</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class_path</a:t>
            </a:r>
            <a:r>
              <a:rPr lang="en-US" sz="1800" dirty="0">
                <a:effectLst/>
                <a:latin typeface="Calibri" panose="020F0502020204030204" pitchFamily="34" charset="0"/>
                <a:ea typeface="Calibri" panose="020F0502020204030204" pitchFamily="34" charset="0"/>
                <a:cs typeface="Times New Roman" panose="02020603050405020304" pitchFamily="18" charset="0"/>
              </a:rPr>
              <a:t> =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os.path.join</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dataset_dir</a:t>
            </a:r>
            <a:r>
              <a:rPr lang="en-US" sz="1800" dirty="0">
                <a:effectLst/>
                <a:latin typeface="Calibri" panose="020F0502020204030204" pitchFamily="34" charset="0"/>
                <a:ea typeface="Calibri" panose="020F0502020204030204" pitchFamily="34" charset="0"/>
                <a:cs typeface="Times New Roman" panose="02020603050405020304" pitchFamily="18" charset="0"/>
              </a:rPr>
              <a:t>, label)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if not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os.path.isdir</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class_path</a:t>
            </a:r>
            <a:r>
              <a:rPr lang="en-US" sz="1800" dirty="0">
                <a:effectLst/>
                <a:latin typeface="Calibri" panose="020F0502020204030204" pitchFamily="34" charset="0"/>
                <a:ea typeface="Calibri" panose="020F0502020204030204" pitchFamily="34" charset="0"/>
                <a:cs typeface="Times New Roman" panose="02020603050405020304" pitchFamily="18" charset="0"/>
              </a:rPr>
              <a:t>): continue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labels.append</a:t>
            </a:r>
            <a:r>
              <a:rPr lang="en-US" sz="1800" dirty="0">
                <a:effectLst/>
                <a:latin typeface="Calibri" panose="020F0502020204030204" pitchFamily="34" charset="0"/>
                <a:ea typeface="Calibri" panose="020F0502020204030204" pitchFamily="34" charset="0"/>
                <a:cs typeface="Times New Roman" panose="02020603050405020304" pitchFamily="18" charset="0"/>
              </a:rPr>
              <a:t>(label)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711319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49A829-6391-4729-8F4F-521E4DF9B00B}"/>
              </a:ext>
            </a:extLst>
          </p:cNvPr>
          <p:cNvSpPr>
            <a:spLocks noGrp="1"/>
          </p:cNvSpPr>
          <p:nvPr>
            <p:ph type="sldNum" sz="quarter" idx="12"/>
          </p:nvPr>
        </p:nvSpPr>
        <p:spPr/>
        <p:txBody>
          <a:bodyPr/>
          <a:lstStyle/>
          <a:p>
            <a:fld id="{595F2725-082E-469A-BF5C-09635F99CEA1}" type="slidenum">
              <a:rPr lang="en-IN" smtClean="0"/>
              <a:t>22</a:t>
            </a:fld>
            <a:endParaRPr lang="en-IN"/>
          </a:p>
        </p:txBody>
      </p:sp>
      <p:sp>
        <p:nvSpPr>
          <p:cNvPr id="4" name="TextBox 3">
            <a:extLst>
              <a:ext uri="{FF2B5EF4-FFF2-40B4-BE49-F238E27FC236}">
                <a16:creationId xmlns:a16="http://schemas.microsoft.com/office/drawing/2014/main" id="{B3164D04-A8A7-BC81-96CD-81544B060A1E}"/>
              </a:ext>
            </a:extLst>
          </p:cNvPr>
          <p:cNvSpPr txBox="1"/>
          <p:nvPr/>
        </p:nvSpPr>
        <p:spPr>
          <a:xfrm>
            <a:off x="365760" y="295729"/>
            <a:ext cx="6096000" cy="5050357"/>
          </a:xfrm>
          <a:prstGeom prst="rect">
            <a:avLst/>
          </a:prstGeom>
          <a:noFill/>
        </p:spPr>
        <p:txBody>
          <a:bodyPr wrap="square">
            <a:spAutoFit/>
          </a:bodyPr>
          <a:lstStyle/>
          <a:p>
            <a:pPr>
              <a:lnSpc>
                <a:spcPct val="115000"/>
              </a:lnSpc>
              <a:spcAft>
                <a:spcPts val="1000"/>
              </a:spcAft>
              <a:buNone/>
            </a:pPr>
            <a:r>
              <a:rPr lang="en-US" sz="1800">
                <a:effectLst/>
                <a:latin typeface="Calibri" panose="020F0502020204030204" pitchFamily="34" charset="0"/>
                <a:ea typeface="Calibri" panose="020F0502020204030204" pitchFamily="34" charset="0"/>
                <a:cs typeface="Times New Roman" panose="02020603050405020304" pitchFamily="18" charset="0"/>
              </a:rPr>
              <a:t>print(f"</a:t>
            </a:r>
            <a:r>
              <a:rPr lang="en-US" sz="1800">
                <a:effectLst/>
                <a:latin typeface="Calibri" panose="020F0502020204030204" pitchFamily="34" charset="0"/>
                <a:ea typeface="Calibri" panose="020F0502020204030204" pitchFamily="34" charset="0"/>
                <a:cs typeface="Calibri" panose="020F0502020204030204" pitchFamily="34" charset="0"/>
              </a:rPr>
              <a:t>✅</a:t>
            </a:r>
            <a:r>
              <a:rPr lang="en-US" sz="1800">
                <a:effectLst/>
                <a:latin typeface="Calibri" panose="020F0502020204030204" pitchFamily="34" charset="0"/>
                <a:ea typeface="Calibri" panose="020F0502020204030204" pitchFamily="34" charset="0"/>
                <a:cs typeface="Times New Roman" panose="02020603050405020304" pitchFamily="18" charset="0"/>
              </a:rPr>
              <a:t> Total images loaded: {len(X)}")</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a:effectLst/>
                <a:latin typeface="Calibri" panose="020F0502020204030204" pitchFamily="34" charset="0"/>
                <a:ea typeface="Calibri" panose="020F0502020204030204" pitchFamily="34" charset="0"/>
                <a:cs typeface="Times New Roman" panose="02020603050405020304" pitchFamily="18" charset="0"/>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Calibri" panose="020F0502020204030204" pitchFamily="34" charset="0"/>
              </a:rPr>
              <a:t>🧪</a:t>
            </a:r>
            <a:r>
              <a:rPr lang="en-US" sz="1800">
                <a:effectLst/>
                <a:latin typeface="Calibri" panose="020F0502020204030204" pitchFamily="34" charset="0"/>
                <a:ea typeface="Calibri" panose="020F0502020204030204" pitchFamily="34" charset="0"/>
                <a:cs typeface="Times New Roman" panose="02020603050405020304" pitchFamily="18" charset="0"/>
              </a:rPr>
              <a:t> TRAIN-TEST SPLIT AND MODEL TRAINING</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a:effectLst/>
                <a:latin typeface="Calibri" panose="020F0502020204030204" pitchFamily="34" charset="0"/>
                <a:ea typeface="Calibri" panose="020F0502020204030204" pitchFamily="34" charset="0"/>
                <a:cs typeface="Times New Roman" panose="02020603050405020304" pitchFamily="18" charset="0"/>
              </a:rPr>
              <a:t>X_train, X_test, y_train, y_test = train_test_split(X, y, test_size=0.2, random_state=42)</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a:effectLst/>
                <a:latin typeface="Calibri" panose="020F0502020204030204" pitchFamily="34" charset="0"/>
                <a:ea typeface="Calibri" panose="020F0502020204030204" pitchFamily="34" charset="0"/>
                <a:cs typeface="Times New Roman" panose="02020603050405020304" pitchFamily="18" charset="0"/>
              </a:rPr>
              <a:t>model = RandomForestClassifier(n_estimators=100, random_state=42)</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a:effectLst/>
                <a:latin typeface="Calibri" panose="020F0502020204030204" pitchFamily="34" charset="0"/>
                <a:ea typeface="Calibri" panose="020F0502020204030204" pitchFamily="34" charset="0"/>
                <a:cs typeface="Times New Roman" panose="02020603050405020304" pitchFamily="18" charset="0"/>
              </a:rPr>
              <a:t>model.fit(X_train, y_train)</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a:effectLst/>
                <a:latin typeface="Calibri" panose="020F0502020204030204" pitchFamily="34" charset="0"/>
                <a:ea typeface="Calibri" panose="020F0502020204030204" pitchFamily="34" charset="0"/>
                <a:cs typeface="Times New Roman" panose="02020603050405020304" pitchFamily="18" charset="0"/>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Calibri" panose="020F0502020204030204" pitchFamily="34" charset="0"/>
              </a:rPr>
              <a:t>📉</a:t>
            </a:r>
            <a:r>
              <a:rPr lang="en-US" sz="1800">
                <a:effectLst/>
                <a:latin typeface="Calibri" panose="020F0502020204030204" pitchFamily="34" charset="0"/>
                <a:ea typeface="Calibri" panose="020F0502020204030204" pitchFamily="34" charset="0"/>
                <a:cs typeface="Times New Roman" panose="02020603050405020304" pitchFamily="18" charset="0"/>
              </a:rPr>
              <a:t> EVALUATE MODEL</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a:effectLst/>
                <a:latin typeface="Calibri" panose="020F0502020204030204" pitchFamily="34" charset="0"/>
                <a:ea typeface="Calibri" panose="020F0502020204030204" pitchFamily="34" charset="0"/>
                <a:cs typeface="Times New Roman" panose="02020603050405020304" pitchFamily="18" charset="0"/>
              </a:rPr>
              <a:t>print("\n</a:t>
            </a:r>
            <a:r>
              <a:rPr lang="en-US" sz="1800">
                <a:effectLst/>
                <a:latin typeface="Calibri" panose="020F0502020204030204" pitchFamily="34" charset="0"/>
                <a:ea typeface="Calibri" panose="020F0502020204030204" pitchFamily="34" charset="0"/>
                <a:cs typeface="Calibri" panose="020F0502020204030204" pitchFamily="34" charset="0"/>
              </a:rPr>
              <a:t>📈</a:t>
            </a:r>
            <a:r>
              <a:rPr lang="en-US" sz="1800">
                <a:effectLst/>
                <a:latin typeface="Calibri" panose="020F0502020204030204" pitchFamily="34" charset="0"/>
                <a:ea typeface="Calibri" panose="020F0502020204030204" pitchFamily="34" charset="0"/>
                <a:cs typeface="Times New Roman" panose="02020603050405020304" pitchFamily="18" charset="0"/>
              </a:rPr>
              <a:t> Classification Report:")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print(classification_report(y_test, model.predict(X_test)))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89522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F3A029-9E73-ADB8-E6F1-83D85EC9D497}"/>
              </a:ext>
            </a:extLst>
          </p:cNvPr>
          <p:cNvSpPr>
            <a:spLocks noGrp="1"/>
          </p:cNvSpPr>
          <p:nvPr>
            <p:ph type="sldNum" sz="quarter" idx="12"/>
          </p:nvPr>
        </p:nvSpPr>
        <p:spPr/>
        <p:txBody>
          <a:bodyPr/>
          <a:lstStyle/>
          <a:p>
            <a:fld id="{595F2725-082E-469A-BF5C-09635F99CEA1}" type="slidenum">
              <a:rPr lang="en-IN" smtClean="0"/>
              <a:t>23</a:t>
            </a:fld>
            <a:endParaRPr lang="en-IN"/>
          </a:p>
        </p:txBody>
      </p:sp>
      <p:sp>
        <p:nvSpPr>
          <p:cNvPr id="4" name="TextBox 3">
            <a:extLst>
              <a:ext uri="{FF2B5EF4-FFF2-40B4-BE49-F238E27FC236}">
                <a16:creationId xmlns:a16="http://schemas.microsoft.com/office/drawing/2014/main" id="{8AF12629-1EC7-01D4-9AB6-AB621255B18C}"/>
              </a:ext>
            </a:extLst>
          </p:cNvPr>
          <p:cNvSpPr txBox="1"/>
          <p:nvPr/>
        </p:nvSpPr>
        <p:spPr>
          <a:xfrm>
            <a:off x="121920" y="295729"/>
            <a:ext cx="9022080" cy="6014275"/>
          </a:xfrm>
          <a:prstGeom prst="rect">
            <a:avLst/>
          </a:prstGeom>
          <a:noFill/>
        </p:spPr>
        <p:txBody>
          <a:bodyPr wrap="square">
            <a:spAutoFit/>
          </a:bodyPr>
          <a:lstStyle/>
          <a:p>
            <a:pPr>
              <a:lnSpc>
                <a:spcPct val="115000"/>
              </a:lnSpc>
              <a:spcAft>
                <a:spcPts val="1000"/>
              </a:spcAft>
              <a:buNone/>
            </a:pPr>
            <a:r>
              <a:rPr lang="en-US" sz="1400" dirty="0">
                <a:effectLst/>
                <a:latin typeface="Calibri" panose="020F0502020204030204" pitchFamily="34" charset="0"/>
                <a:ea typeface="Calibri" panose="020F0502020204030204" pitchFamily="34" charset="0"/>
                <a:cs typeface="Times New Roman" panose="02020603050405020304" pitchFamily="18" charset="0"/>
              </a:rPr>
              <a:t># </a:t>
            </a:r>
            <a:r>
              <a:rPr lang="en-US" sz="1400" dirty="0">
                <a:effectLst/>
                <a:latin typeface="Calibri" panose="020F0502020204030204" pitchFamily="34" charset="0"/>
                <a:ea typeface="Calibri" panose="020F0502020204030204" pitchFamily="34" charset="0"/>
                <a:cs typeface="Calibri" panose="020F0502020204030204" pitchFamily="34" charset="0"/>
              </a:rPr>
              <a:t>💾</a:t>
            </a:r>
            <a:r>
              <a:rPr lang="en-US" sz="1400" dirty="0">
                <a:effectLst/>
                <a:latin typeface="Calibri" panose="020F0502020204030204" pitchFamily="34" charset="0"/>
                <a:ea typeface="Calibri" panose="020F0502020204030204" pitchFamily="34" charset="0"/>
                <a:cs typeface="Times New Roman" panose="02020603050405020304" pitchFamily="18" charset="0"/>
              </a:rPr>
              <a:t> SAVE MODEL</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400" dirty="0">
                <a:effectLst/>
                <a:latin typeface="Calibri" panose="020F0502020204030204" pitchFamily="34" charset="0"/>
                <a:ea typeface="Calibri" panose="020F0502020204030204" pitchFamily="34" charset="0"/>
                <a:cs typeface="Times New Roman" panose="02020603050405020304" pitchFamily="18" charset="0"/>
              </a:rPr>
              <a:t>with open("</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plant_disease_model.pkl</a:t>
            </a:r>
            <a:r>
              <a:rPr lang="en-US" sz="1400" dirty="0">
                <a:effectLst/>
                <a:latin typeface="Calibri" panose="020F0502020204030204" pitchFamily="34" charset="0"/>
                <a:ea typeface="Calibri" panose="020F0502020204030204" pitchFamily="34" charset="0"/>
                <a:cs typeface="Times New Roman" panose="02020603050405020304" pitchFamily="18" charset="0"/>
              </a:rPr>
              <a:t>",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wb</a:t>
            </a:r>
            <a:r>
              <a:rPr lang="en-US" sz="1400" dirty="0">
                <a:effectLst/>
                <a:latin typeface="Calibri" panose="020F0502020204030204" pitchFamily="34" charset="0"/>
                <a:ea typeface="Calibri" panose="020F0502020204030204" pitchFamily="34" charset="0"/>
                <a:cs typeface="Times New Roman" panose="02020603050405020304" pitchFamily="18" charset="0"/>
              </a:rPr>
              <a:t>") as f:</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400" dirty="0">
                <a:effectLst/>
                <a:latin typeface="Calibri" panose="020F0502020204030204" pitchFamily="34" charset="0"/>
                <a:ea typeface="Calibri" panose="020F0502020204030204" pitchFamily="34" charset="0"/>
                <a:cs typeface="Times New Roman" panose="02020603050405020304" pitchFamily="18" charset="0"/>
              </a:rPr>
              <a:t>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pickle.dump</a:t>
            </a:r>
            <a:r>
              <a:rPr lang="en-US" sz="1400" dirty="0">
                <a:effectLst/>
                <a:latin typeface="Calibri" panose="020F0502020204030204" pitchFamily="34" charset="0"/>
                <a:ea typeface="Calibri" panose="020F0502020204030204" pitchFamily="34" charset="0"/>
                <a:cs typeface="Times New Roman" panose="02020603050405020304" pitchFamily="18" charset="0"/>
              </a:rPr>
              <a:t>(model, f)</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Upload and Predict New Test Image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Now you can run this </a:t>
            </a: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SECOND BLOCK</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to upload a test image and see the result: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400" dirty="0">
                <a:effectLst/>
                <a:latin typeface="Calibri" panose="020F0502020204030204" pitchFamily="34" charset="0"/>
                <a:ea typeface="Calibri" panose="020F0502020204030204" pitchFamily="34" charset="0"/>
                <a:cs typeface="Times New Roman" panose="02020603050405020304" pitchFamily="18" charset="0"/>
              </a:rPr>
              <a:t># </a:t>
            </a:r>
            <a:r>
              <a:rPr lang="en-US" sz="1400" dirty="0">
                <a:effectLst/>
                <a:latin typeface="Calibri" panose="020F0502020204030204" pitchFamily="34" charset="0"/>
                <a:ea typeface="Calibri" panose="020F0502020204030204" pitchFamily="34" charset="0"/>
                <a:cs typeface="Calibri" panose="020F0502020204030204" pitchFamily="34" charset="0"/>
              </a:rPr>
              <a:t>📁</a:t>
            </a:r>
            <a:r>
              <a:rPr lang="en-US" sz="1400" dirty="0">
                <a:effectLst/>
                <a:latin typeface="Calibri" panose="020F0502020204030204" pitchFamily="34" charset="0"/>
                <a:ea typeface="Calibri" panose="020F0502020204030204" pitchFamily="34" charset="0"/>
                <a:cs typeface="Times New Roman" panose="02020603050405020304" pitchFamily="18" charset="0"/>
              </a:rPr>
              <a:t> CREATE OUTPUT DIRECTORY</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400" dirty="0" err="1">
                <a:effectLst/>
                <a:latin typeface="Calibri" panose="020F0502020204030204" pitchFamily="34" charset="0"/>
                <a:ea typeface="Calibri" panose="020F0502020204030204" pitchFamily="34" charset="0"/>
                <a:cs typeface="Times New Roman" panose="02020603050405020304" pitchFamily="18" charset="0"/>
              </a:rPr>
              <a:t>os.makedirs</a:t>
            </a:r>
            <a:r>
              <a:rPr lang="en-US" sz="1400" dirty="0">
                <a:effectLst/>
                <a:latin typeface="Calibri" panose="020F0502020204030204" pitchFamily="34" charset="0"/>
                <a:ea typeface="Calibri" panose="020F0502020204030204" pitchFamily="34" charset="0"/>
                <a:cs typeface="Times New Roman" panose="02020603050405020304" pitchFamily="18" charset="0"/>
              </a:rPr>
              <a:t>("outputs",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exist_ok</a:t>
            </a:r>
            <a:r>
              <a:rPr lang="en-US" sz="1400" dirty="0">
                <a:effectLst/>
                <a:latin typeface="Calibri" panose="020F0502020204030204" pitchFamily="34" charset="0"/>
                <a:ea typeface="Calibri" panose="020F0502020204030204" pitchFamily="34" charset="0"/>
                <a:cs typeface="Times New Roman" panose="02020603050405020304" pitchFamily="18" charset="0"/>
              </a:rPr>
              <a:t>=True)</a:t>
            </a: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 UPLOAD A TEST IMAGE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uploaded =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files.upload</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err="1">
                <a:effectLst/>
                <a:latin typeface="Calibri" panose="020F0502020204030204" pitchFamily="34" charset="0"/>
                <a:ea typeface="Calibri" panose="020F0502020204030204" pitchFamily="34" charset="0"/>
                <a:cs typeface="Times New Roman" panose="02020603050405020304" pitchFamily="18" charset="0"/>
              </a:rPr>
              <a:t>file_name</a:t>
            </a:r>
            <a:r>
              <a:rPr lang="en-US" sz="1800" dirty="0">
                <a:effectLst/>
                <a:latin typeface="Calibri" panose="020F0502020204030204" pitchFamily="34" charset="0"/>
                <a:ea typeface="Calibri" panose="020F0502020204030204" pitchFamily="34" charset="0"/>
                <a:cs typeface="Times New Roman" panose="02020603050405020304" pitchFamily="18" charset="0"/>
              </a:rPr>
              <a:t> = list(</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uploaded.keys</a:t>
            </a:r>
            <a:r>
              <a:rPr lang="en-US" sz="1800" dirty="0">
                <a:effectLst/>
                <a:latin typeface="Calibri" panose="020F0502020204030204" pitchFamily="34" charset="0"/>
                <a:ea typeface="Calibri" panose="020F0502020204030204" pitchFamily="34" charset="0"/>
                <a:cs typeface="Times New Roman" panose="02020603050405020304" pitchFamily="18" charset="0"/>
              </a:rPr>
              <a:t>())[0]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err="1">
                <a:effectLst/>
                <a:latin typeface="Calibri" panose="020F0502020204030204" pitchFamily="34" charset="0"/>
                <a:ea typeface="Calibri" panose="020F0502020204030204" pitchFamily="34" charset="0"/>
                <a:cs typeface="Times New Roman" panose="02020603050405020304" pitchFamily="18" charset="0"/>
              </a:rPr>
              <a:t>img</a:t>
            </a:r>
            <a:r>
              <a:rPr lang="en-US" sz="1800" dirty="0">
                <a:effectLst/>
                <a:latin typeface="Calibri" panose="020F0502020204030204" pitchFamily="34" charset="0"/>
                <a:ea typeface="Calibri" panose="020F0502020204030204" pitchFamily="34" charset="0"/>
                <a:cs typeface="Times New Roman" panose="02020603050405020304" pitchFamily="18" charset="0"/>
              </a:rPr>
              <a:t> = cv2.imread(</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file_name</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dirty="0" err="1">
                <a:effectLst/>
                <a:latin typeface="Calibri" panose="020F0502020204030204" pitchFamily="34" charset="0"/>
                <a:ea typeface="Calibri" panose="020F0502020204030204" pitchFamily="34" charset="0"/>
                <a:cs typeface="Times New Roman" panose="02020603050405020304" pitchFamily="18" charset="0"/>
              </a:rPr>
              <a:t>img</a:t>
            </a:r>
            <a:r>
              <a:rPr lang="en-US" sz="1800" dirty="0">
                <a:effectLst/>
                <a:latin typeface="Calibri" panose="020F0502020204030204" pitchFamily="34" charset="0"/>
                <a:ea typeface="Calibri" panose="020F0502020204030204" pitchFamily="34" charset="0"/>
                <a:cs typeface="Times New Roman" panose="02020603050405020304" pitchFamily="18" charset="0"/>
              </a:rPr>
              <a:t> = cv2.resize(</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img</a:t>
            </a:r>
            <a:r>
              <a:rPr lang="en-US" sz="1800" dirty="0">
                <a:effectLst/>
                <a:latin typeface="Calibri" panose="020F0502020204030204" pitchFamily="34" charset="0"/>
                <a:ea typeface="Calibri" panose="020F0502020204030204" pitchFamily="34" charset="0"/>
                <a:cs typeface="Times New Roman" panose="02020603050405020304" pitchFamily="18" charset="0"/>
              </a:rPr>
              <a:t>, (256, 256))</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filename =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os.path.splitext</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os.path.basename</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file_name</a:t>
            </a:r>
            <a:r>
              <a:rPr lang="en-US" sz="1800" dirty="0">
                <a:effectLst/>
                <a:latin typeface="Calibri" panose="020F0502020204030204" pitchFamily="34" charset="0"/>
                <a:ea typeface="Calibri" panose="020F0502020204030204" pitchFamily="34" charset="0"/>
                <a:cs typeface="Times New Roman" panose="02020603050405020304" pitchFamily="18" charset="0"/>
              </a:rPr>
              <a:t>))[0]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205491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E0A8F1-9250-8BD5-79C4-6F9B86C643E5}"/>
              </a:ext>
            </a:extLst>
          </p:cNvPr>
          <p:cNvSpPr>
            <a:spLocks noGrp="1"/>
          </p:cNvSpPr>
          <p:nvPr>
            <p:ph type="sldNum" sz="quarter" idx="12"/>
          </p:nvPr>
        </p:nvSpPr>
        <p:spPr/>
        <p:txBody>
          <a:bodyPr/>
          <a:lstStyle/>
          <a:p>
            <a:fld id="{595F2725-082E-469A-BF5C-09635F99CEA1}" type="slidenum">
              <a:rPr lang="en-IN" smtClean="0"/>
              <a:t>24</a:t>
            </a:fld>
            <a:endParaRPr lang="en-IN"/>
          </a:p>
        </p:txBody>
      </p:sp>
      <p:sp>
        <p:nvSpPr>
          <p:cNvPr id="4" name="TextBox 3">
            <a:extLst>
              <a:ext uri="{FF2B5EF4-FFF2-40B4-BE49-F238E27FC236}">
                <a16:creationId xmlns:a16="http://schemas.microsoft.com/office/drawing/2014/main" id="{B2D6207A-A25C-0FED-6B6A-2D73693DFE6D}"/>
              </a:ext>
            </a:extLst>
          </p:cNvPr>
          <p:cNvSpPr txBox="1"/>
          <p:nvPr/>
        </p:nvSpPr>
        <p:spPr>
          <a:xfrm>
            <a:off x="289560" y="295730"/>
            <a:ext cx="8854440" cy="4908331"/>
          </a:xfrm>
          <a:prstGeom prst="rect">
            <a:avLst/>
          </a:prstGeom>
          <a:noFill/>
        </p:spPr>
        <p:txBody>
          <a:bodyPr wrap="square">
            <a:spAutoFit/>
          </a:bodyPr>
          <a:lstStyle/>
          <a:p>
            <a:pPr>
              <a:lnSpc>
                <a:spcPct val="115000"/>
              </a:lnSpc>
              <a:spcAft>
                <a:spcPts val="10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sz="1400" dirty="0">
                <a:effectLst/>
                <a:latin typeface="Calibri" panose="020F0502020204030204" pitchFamily="34" charset="0"/>
                <a:ea typeface="Calibri" panose="020F0502020204030204" pitchFamily="34" charset="0"/>
                <a:cs typeface="Times New Roman" panose="02020603050405020304" pitchFamily="18" charset="0"/>
              </a:rPr>
              <a:t> </a:t>
            </a:r>
            <a:r>
              <a:rPr lang="en-US" sz="1400" dirty="0">
                <a:effectLst/>
                <a:latin typeface="Calibri" panose="020F0502020204030204" pitchFamily="34" charset="0"/>
                <a:ea typeface="Calibri" panose="020F0502020204030204" pitchFamily="34" charset="0"/>
                <a:cs typeface="Calibri" panose="020F0502020204030204" pitchFamily="34" charset="0"/>
              </a:rPr>
              <a:t>🖼️</a:t>
            </a:r>
            <a:r>
              <a:rPr lang="en-US" sz="1400" dirty="0">
                <a:effectLst/>
                <a:latin typeface="Calibri" panose="020F0502020204030204" pitchFamily="34" charset="0"/>
                <a:ea typeface="Calibri" panose="020F0502020204030204" pitchFamily="34" charset="0"/>
                <a:cs typeface="Times New Roman" panose="02020603050405020304" pitchFamily="18" charset="0"/>
              </a:rPr>
              <a:t> SHOW INPUT IMAGE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400" dirty="0" err="1">
                <a:effectLst/>
                <a:latin typeface="Calibri" panose="020F0502020204030204" pitchFamily="34" charset="0"/>
                <a:ea typeface="Calibri" panose="020F0502020204030204" pitchFamily="34" charset="0"/>
                <a:cs typeface="Times New Roman" panose="02020603050405020304" pitchFamily="18" charset="0"/>
              </a:rPr>
              <a:t>input_path</a:t>
            </a:r>
            <a:r>
              <a:rPr lang="en-US" sz="1400" dirty="0">
                <a:effectLst/>
                <a:latin typeface="Calibri" panose="020F0502020204030204" pitchFamily="34" charset="0"/>
                <a:ea typeface="Calibri" panose="020F0502020204030204" pitchFamily="34" charset="0"/>
                <a:cs typeface="Times New Roman" panose="02020603050405020304" pitchFamily="18" charset="0"/>
              </a:rPr>
              <a:t> =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f"outputs</a:t>
            </a:r>
            <a:r>
              <a:rPr lang="en-US" sz="1400" dirty="0">
                <a:effectLst/>
                <a:latin typeface="Calibri" panose="020F0502020204030204" pitchFamily="34" charset="0"/>
                <a:ea typeface="Calibri" panose="020F0502020204030204" pitchFamily="34" charset="0"/>
                <a:cs typeface="Times New Roman" panose="02020603050405020304" pitchFamily="18" charset="0"/>
              </a:rPr>
              <a:t>/input_{filename}.jpg"</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400" dirty="0">
                <a:effectLst/>
                <a:latin typeface="Calibri" panose="020F0502020204030204" pitchFamily="34" charset="0"/>
                <a:ea typeface="Calibri" panose="020F0502020204030204" pitchFamily="34" charset="0"/>
                <a:cs typeface="Times New Roman" panose="02020603050405020304" pitchFamily="18" charset="0"/>
              </a:rPr>
              <a:t>cv2.imwrite(</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input_path</a:t>
            </a:r>
            <a:r>
              <a:rPr lang="en-US" sz="1400" dirty="0">
                <a:effectLst/>
                <a:latin typeface="Calibri" panose="020F0502020204030204" pitchFamily="34" charset="0"/>
                <a:ea typeface="Calibri" panose="020F0502020204030204" pitchFamily="34" charset="0"/>
                <a:cs typeface="Times New Roman" panose="02020603050405020304" pitchFamily="18" charset="0"/>
              </a:rPr>
              <a:t>,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img</a:t>
            </a:r>
            <a:r>
              <a:rPr lang="en-US" sz="1400" dirty="0">
                <a:effectLst/>
                <a:latin typeface="Calibri" panose="020F050202020403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400" dirty="0">
                <a:effectLst/>
                <a:latin typeface="Calibri" panose="020F0502020204030204" pitchFamily="34" charset="0"/>
                <a:ea typeface="Calibri" panose="020F0502020204030204" pitchFamily="34" charset="0"/>
                <a:cs typeface="Times New Roman" panose="02020603050405020304" pitchFamily="18" charset="0"/>
              </a:rPr>
              <a:t>print(f"\n</a:t>
            </a:r>
            <a:r>
              <a:rPr lang="en-US" sz="1400" dirty="0">
                <a:effectLst/>
                <a:latin typeface="Calibri" panose="020F0502020204030204" pitchFamily="34" charset="0"/>
                <a:ea typeface="Calibri" panose="020F0502020204030204" pitchFamily="34" charset="0"/>
                <a:cs typeface="Calibri" panose="020F0502020204030204" pitchFamily="34" charset="0"/>
              </a:rPr>
              <a:t>🖼️</a:t>
            </a:r>
            <a:r>
              <a:rPr lang="en-US" sz="1400" dirty="0">
                <a:effectLst/>
                <a:latin typeface="Calibri" panose="020F0502020204030204" pitchFamily="34" charset="0"/>
                <a:ea typeface="Calibri" panose="020F0502020204030204" pitchFamily="34" charset="0"/>
                <a:cs typeface="Times New Roman" panose="02020603050405020304" pitchFamily="18" charset="0"/>
              </a:rPr>
              <a:t> Input Image:")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400" dirty="0">
                <a:effectLst/>
                <a:latin typeface="Calibri" panose="020F0502020204030204" pitchFamily="34" charset="0"/>
                <a:ea typeface="Calibri" panose="020F0502020204030204" pitchFamily="34" charset="0"/>
                <a:cs typeface="Times New Roman" panose="02020603050405020304" pitchFamily="18" charset="0"/>
              </a:rPr>
              <a:t>display(</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PILImage.open</a:t>
            </a:r>
            <a:r>
              <a:rPr lang="en-US" sz="1400" dirty="0">
                <a:effectLst/>
                <a:latin typeface="Calibri" panose="020F0502020204030204" pitchFamily="34" charset="0"/>
                <a:ea typeface="Calibri" panose="020F0502020204030204" pitchFamily="34" charset="0"/>
                <a:cs typeface="Times New Roman" panose="02020603050405020304" pitchFamily="18" charset="0"/>
              </a:rPr>
              <a:t>(</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input_path</a:t>
            </a:r>
            <a:r>
              <a:rPr lang="en-US" sz="1400" dirty="0">
                <a:effectLst/>
                <a:latin typeface="Calibri" panose="020F050202020403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4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400" dirty="0">
                <a:effectLst/>
                <a:latin typeface="Calibri" panose="020F0502020204030204" pitchFamily="34" charset="0"/>
                <a:ea typeface="Calibri" panose="020F0502020204030204" pitchFamily="34" charset="0"/>
                <a:cs typeface="Times New Roman" panose="02020603050405020304" pitchFamily="18" charset="0"/>
              </a:rPr>
              <a:t># </a:t>
            </a:r>
            <a:r>
              <a:rPr lang="en-US" sz="1400" dirty="0">
                <a:effectLst/>
                <a:latin typeface="Calibri" panose="020F0502020204030204" pitchFamily="34" charset="0"/>
                <a:ea typeface="Calibri" panose="020F0502020204030204" pitchFamily="34" charset="0"/>
                <a:cs typeface="Calibri" panose="020F0502020204030204" pitchFamily="34" charset="0"/>
              </a:rPr>
              <a:t>🧪</a:t>
            </a:r>
            <a:r>
              <a:rPr lang="en-US" sz="1400" dirty="0">
                <a:effectLst/>
                <a:latin typeface="Calibri" panose="020F0502020204030204" pitchFamily="34" charset="0"/>
                <a:ea typeface="Calibri" panose="020F0502020204030204" pitchFamily="34" charset="0"/>
                <a:cs typeface="Times New Roman" panose="02020603050405020304" pitchFamily="18" charset="0"/>
              </a:rPr>
              <a:t> SEGMENT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400" dirty="0">
                <a:effectLst/>
                <a:latin typeface="Calibri" panose="020F0502020204030204" pitchFamily="34" charset="0"/>
                <a:ea typeface="Calibri" panose="020F0502020204030204" pitchFamily="34" charset="0"/>
                <a:cs typeface="Times New Roman" panose="02020603050405020304" pitchFamily="18" charset="0"/>
              </a:rPr>
              <a:t>segmented =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segment_image</a:t>
            </a:r>
            <a:r>
              <a:rPr lang="en-US" sz="1400" dirty="0">
                <a:effectLst/>
                <a:latin typeface="Calibri" panose="020F0502020204030204" pitchFamily="34" charset="0"/>
                <a:ea typeface="Calibri" panose="020F0502020204030204" pitchFamily="34" charset="0"/>
                <a:cs typeface="Times New Roman" panose="02020603050405020304" pitchFamily="18" charset="0"/>
              </a:rPr>
              <a:t>(</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img</a:t>
            </a:r>
            <a:r>
              <a:rPr lang="en-US" sz="1400" dirty="0">
                <a:effectLst/>
                <a:latin typeface="Calibri" panose="020F050202020403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400" dirty="0" err="1">
                <a:effectLst/>
                <a:latin typeface="Calibri" panose="020F0502020204030204" pitchFamily="34" charset="0"/>
                <a:ea typeface="Calibri" panose="020F0502020204030204" pitchFamily="34" charset="0"/>
                <a:cs typeface="Times New Roman" panose="02020603050405020304" pitchFamily="18" charset="0"/>
              </a:rPr>
              <a:t>seg_path</a:t>
            </a:r>
            <a:r>
              <a:rPr lang="en-US" sz="1400" dirty="0">
                <a:effectLst/>
                <a:latin typeface="Calibri" panose="020F0502020204030204" pitchFamily="34" charset="0"/>
                <a:ea typeface="Calibri" panose="020F0502020204030204" pitchFamily="34" charset="0"/>
                <a:cs typeface="Times New Roman" panose="02020603050405020304" pitchFamily="18" charset="0"/>
              </a:rPr>
              <a:t> =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f"outputs</a:t>
            </a:r>
            <a:r>
              <a:rPr lang="en-US" sz="1400" dirty="0">
                <a:effectLst/>
                <a:latin typeface="Calibri" panose="020F0502020204030204" pitchFamily="34" charset="0"/>
                <a:ea typeface="Calibri" panose="020F0502020204030204" pitchFamily="34" charset="0"/>
                <a:cs typeface="Times New Roman" panose="02020603050405020304" pitchFamily="18" charset="0"/>
              </a:rPr>
              <a:t>/segmented_{filename}.jpg"</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400" dirty="0">
                <a:effectLst/>
                <a:latin typeface="Calibri" panose="020F0502020204030204" pitchFamily="34" charset="0"/>
                <a:ea typeface="Calibri" panose="020F0502020204030204" pitchFamily="34" charset="0"/>
                <a:cs typeface="Times New Roman" panose="02020603050405020304" pitchFamily="18" charset="0"/>
              </a:rPr>
              <a:t>cv2.imwrite(</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seg_path</a:t>
            </a:r>
            <a:r>
              <a:rPr lang="en-US" sz="1400" dirty="0">
                <a:effectLst/>
                <a:latin typeface="Calibri" panose="020F0502020204030204" pitchFamily="34" charset="0"/>
                <a:ea typeface="Calibri" panose="020F0502020204030204" pitchFamily="34" charset="0"/>
                <a:cs typeface="Times New Roman" panose="02020603050405020304" pitchFamily="18" charset="0"/>
              </a:rPr>
              <a:t>, segmented)</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buNone/>
            </a:pPr>
            <a:r>
              <a:rPr lang="en-US" sz="1400" dirty="0">
                <a:effectLst/>
                <a:latin typeface="Calibri" panose="020F0502020204030204" pitchFamily="34" charset="0"/>
                <a:ea typeface="Calibri" panose="020F0502020204030204" pitchFamily="34" charset="0"/>
                <a:cs typeface="Times New Roman" panose="02020603050405020304" pitchFamily="18" charset="0"/>
              </a:rPr>
              <a:t>print(f"\n</a:t>
            </a:r>
            <a:r>
              <a:rPr lang="en-US" sz="1400" dirty="0">
                <a:effectLst/>
                <a:latin typeface="Calibri" panose="020F0502020204030204" pitchFamily="34" charset="0"/>
                <a:ea typeface="Calibri" panose="020F0502020204030204" pitchFamily="34" charset="0"/>
                <a:cs typeface="Calibri" panose="020F0502020204030204" pitchFamily="34" charset="0"/>
              </a:rPr>
              <a:t>🧬</a:t>
            </a:r>
            <a:r>
              <a:rPr lang="en-US" sz="1400" dirty="0">
                <a:effectLst/>
                <a:latin typeface="Calibri" panose="020F0502020204030204" pitchFamily="34" charset="0"/>
                <a:ea typeface="Calibri" panose="020F0502020204030204" pitchFamily="34" charset="0"/>
                <a:cs typeface="Times New Roman" panose="02020603050405020304" pitchFamily="18" charset="0"/>
              </a:rPr>
              <a:t> Segmented Image:")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display(</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PILImage.open</a:t>
            </a:r>
            <a:r>
              <a:rPr lang="en-US" sz="1400" dirty="0">
                <a:effectLst/>
                <a:latin typeface="Calibri" panose="020F0502020204030204" pitchFamily="34" charset="0"/>
                <a:ea typeface="Calibri" panose="020F0502020204030204" pitchFamily="34" charset="0"/>
                <a:cs typeface="Times New Roman" panose="02020603050405020304" pitchFamily="18" charset="0"/>
              </a:rPr>
              <a:t>(</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seg_path</a:t>
            </a:r>
            <a:r>
              <a:rPr lang="en-US" sz="14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15000"/>
              </a:lnSpc>
              <a:spcAft>
                <a:spcPts val="1000"/>
              </a:spcAft>
            </a:pP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581510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EADA7E-A8C4-8AF7-59A0-128A191D4764}"/>
              </a:ext>
            </a:extLst>
          </p:cNvPr>
          <p:cNvSpPr>
            <a:spLocks noGrp="1"/>
          </p:cNvSpPr>
          <p:nvPr>
            <p:ph type="sldNum" sz="quarter" idx="12"/>
          </p:nvPr>
        </p:nvSpPr>
        <p:spPr/>
        <p:txBody>
          <a:bodyPr/>
          <a:lstStyle/>
          <a:p>
            <a:fld id="{595F2725-082E-469A-BF5C-09635F99CEA1}" type="slidenum">
              <a:rPr lang="en-IN" smtClean="0"/>
              <a:t>25</a:t>
            </a:fld>
            <a:endParaRPr lang="en-IN"/>
          </a:p>
        </p:txBody>
      </p:sp>
      <p:sp>
        <p:nvSpPr>
          <p:cNvPr id="3" name="TextBox 2">
            <a:extLst>
              <a:ext uri="{FF2B5EF4-FFF2-40B4-BE49-F238E27FC236}">
                <a16:creationId xmlns:a16="http://schemas.microsoft.com/office/drawing/2014/main" id="{6C7B48B8-08D5-ACC1-154F-BC89372E6ADD}"/>
              </a:ext>
            </a:extLst>
          </p:cNvPr>
          <p:cNvSpPr txBox="1"/>
          <p:nvPr/>
        </p:nvSpPr>
        <p:spPr>
          <a:xfrm>
            <a:off x="589935" y="835742"/>
            <a:ext cx="1956620"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7877910E-1380-BC86-A3CF-FCE16FEFFBFC}"/>
              </a:ext>
            </a:extLst>
          </p:cNvPr>
          <p:cNvSpPr txBox="1"/>
          <p:nvPr/>
        </p:nvSpPr>
        <p:spPr>
          <a:xfrm>
            <a:off x="737419" y="1799303"/>
            <a:ext cx="9792929" cy="4680155"/>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1.	Crow W. T., &amp; Dunn R. A. (2005). Introduction to Plant Nematology, ENY-016, Gainesville: University of Florida Institute of Food and Agricultural Sciences. </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2.	Crow W. T., &amp; Woods F. E. (2007). Nematode Assay Laboratory, ENY-027, </a:t>
            </a:r>
          </a:p>
          <a:p>
            <a:r>
              <a:rPr lang="en-IN" dirty="0">
                <a:latin typeface="Times New Roman" panose="02020603050405020304" pitchFamily="18" charset="0"/>
                <a:cs typeface="Times New Roman" panose="02020603050405020304" pitchFamily="18" charset="0"/>
              </a:rPr>
              <a:t>Gainesville: University of Florida Institute of Food and Agricultural Sciences. </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3.	Gyeltshen J., &amp; Hodges A. (2006). Fuller Rose Beetle, Naupactus </a:t>
            </a:r>
            <a:r>
              <a:rPr lang="en-IN" dirty="0" err="1">
                <a:latin typeface="Times New Roman" panose="02020603050405020304" pitchFamily="18" charset="0"/>
                <a:cs typeface="Times New Roman" panose="02020603050405020304" pitchFamily="18" charset="0"/>
              </a:rPr>
              <a:t>godmanni</a:t>
            </a:r>
            <a:r>
              <a:rPr lang="en-IN" dirty="0">
                <a:latin typeface="Times New Roman" panose="02020603050405020304" pitchFamily="18" charset="0"/>
                <a:cs typeface="Times New Roman" panose="02020603050405020304" pitchFamily="18" charset="0"/>
              </a:rPr>
              <a:t> (Crotch) (</a:t>
            </a:r>
            <a:r>
              <a:rPr lang="en-IN" dirty="0" err="1">
                <a:latin typeface="Times New Roman" panose="02020603050405020304" pitchFamily="18" charset="0"/>
                <a:cs typeface="Times New Roman" panose="02020603050405020304" pitchFamily="18" charset="0"/>
              </a:rPr>
              <a:t>Insecta</a:t>
            </a:r>
            <a:r>
              <a:rPr lang="en-IN" dirty="0">
                <a:latin typeface="Times New Roman" panose="02020603050405020304" pitchFamily="18" charset="0"/>
                <a:cs typeface="Times New Roman" panose="02020603050405020304" pitchFamily="18" charset="0"/>
              </a:rPr>
              <a:t>: Coleoptera: Curculionidae),EENY-375,Gainesville: University of Florida Institute of Food and Agricultural Sciences. </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4.	Park  Brown,  S.  (2007).  Growing  Roses  in  Florida,  CIR344,  Gainesville: </a:t>
            </a:r>
          </a:p>
          <a:p>
            <a:r>
              <a:rPr lang="en-IN" dirty="0">
                <a:latin typeface="Times New Roman" panose="02020603050405020304" pitchFamily="18" charset="0"/>
                <a:cs typeface="Times New Roman" panose="02020603050405020304" pitchFamily="18" charset="0"/>
              </a:rPr>
              <a:t>University of Florida Institute of Food and Agricultural Sciences. </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5.	Kobayashi. K, (2002). "Birth of a Digital Photo Telegraph-the Bart lane System" Journal of the Institute of Image Electronics Engineers of Japan, 31(2), ISSN: </a:t>
            </a:r>
          </a:p>
          <a:p>
            <a:r>
              <a:rPr lang="en-IN" dirty="0">
                <a:latin typeface="Times New Roman" panose="02020603050405020304" pitchFamily="18" charset="0"/>
                <a:cs typeface="Times New Roman" panose="02020603050405020304" pitchFamily="18" charset="0"/>
              </a:rPr>
              <a:t>0285-9831.</a:t>
            </a:r>
          </a:p>
        </p:txBody>
      </p:sp>
    </p:spTree>
    <p:extLst>
      <p:ext uri="{BB962C8B-B14F-4D97-AF65-F5344CB8AC3E}">
        <p14:creationId xmlns:p14="http://schemas.microsoft.com/office/powerpoint/2010/main" val="37802893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30CD4C-CC3D-5CC9-9147-8D09F4A435FB}"/>
              </a:ext>
            </a:extLst>
          </p:cNvPr>
          <p:cNvSpPr>
            <a:spLocks noGrp="1"/>
          </p:cNvSpPr>
          <p:nvPr>
            <p:ph type="sldNum" sz="quarter" idx="12"/>
          </p:nvPr>
        </p:nvSpPr>
        <p:spPr/>
        <p:txBody>
          <a:bodyPr/>
          <a:lstStyle/>
          <a:p>
            <a:fld id="{595F2725-082E-469A-BF5C-09635F99CEA1}" type="slidenum">
              <a:rPr lang="en-IN" smtClean="0"/>
              <a:t>26</a:t>
            </a:fld>
            <a:endParaRPr lang="en-IN"/>
          </a:p>
        </p:txBody>
      </p:sp>
      <p:sp>
        <p:nvSpPr>
          <p:cNvPr id="3" name="TextBox 2">
            <a:extLst>
              <a:ext uri="{FF2B5EF4-FFF2-40B4-BE49-F238E27FC236}">
                <a16:creationId xmlns:a16="http://schemas.microsoft.com/office/drawing/2014/main" id="{4631C746-8A4C-BBB0-B6EE-224FB91433FB}"/>
              </a:ext>
            </a:extLst>
          </p:cNvPr>
          <p:cNvSpPr txBox="1"/>
          <p:nvPr/>
        </p:nvSpPr>
        <p:spPr>
          <a:xfrm>
            <a:off x="2301240" y="2362200"/>
            <a:ext cx="10424160" cy="1446550"/>
          </a:xfrm>
          <a:prstGeom prst="rect">
            <a:avLst/>
          </a:prstGeom>
          <a:noFill/>
        </p:spPr>
        <p:txBody>
          <a:bodyPr wrap="square" rtlCol="0">
            <a:spAutoFit/>
          </a:bodyPr>
          <a:lstStyle/>
          <a:p>
            <a:r>
              <a:rPr lang="en-IN" sz="88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6259202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240</TotalTime>
  <Words>3319</Words>
  <Application>Microsoft Office PowerPoint</Application>
  <PresentationFormat>Widescreen</PresentationFormat>
  <Paragraphs>233</Paragraphs>
  <Slides>26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Baskerville Old Face</vt:lpstr>
      <vt:lpstr>Calibri</vt:lpstr>
      <vt:lpstr>Cambria</vt:lpstr>
      <vt:lpstr>Century Gothic</vt:lpstr>
      <vt:lpstr>Times New Roman</vt:lpstr>
      <vt:lpstr>Wingdings</vt:lpstr>
      <vt:lpstr>Wingdings 3</vt:lpstr>
      <vt:lpstr>Ion Boardroom</vt:lpstr>
      <vt:lpstr>PowerPoint Presentation</vt:lpstr>
      <vt:lpstr>IMAGE  SEGMENTATION TECHNIQUE  FOR AUTOMATIC DETECTION  CLASSIFICATION OF AGRICULTURAL DISEASE USING MATLAB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Dhiwahar A</dc:creator>
  <cp:lastModifiedBy>Dhiwahar A</cp:lastModifiedBy>
  <cp:revision>2</cp:revision>
  <dcterms:created xsi:type="dcterms:W3CDTF">2025-04-21T15:32:58Z</dcterms:created>
  <dcterms:modified xsi:type="dcterms:W3CDTF">2025-05-21T17:18:30Z</dcterms:modified>
</cp:coreProperties>
</file>